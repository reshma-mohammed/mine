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1"/>
  </p:notesMasterIdLst>
  <p:sldIdLst>
    <p:sldId id="256" r:id="rId3"/>
    <p:sldId id="257" r:id="rId4"/>
    <p:sldId id="259" r:id="rId5"/>
    <p:sldId id="260" r:id="rId6"/>
    <p:sldId id="262" r:id="rId7"/>
    <p:sldId id="261" r:id="rId8"/>
    <p:sldId id="263" r:id="rId9"/>
    <p:sldId id="264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73" autoAdjust="0"/>
  </p:normalViewPr>
  <p:slideViewPr>
    <p:cSldViewPr>
      <p:cViewPr>
        <p:scale>
          <a:sx n="72" d="100"/>
          <a:sy n="72" d="100"/>
        </p:scale>
        <p:origin x="-1230" y="-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9534B-7A83-4065-8788-E2691B61A448}" type="datetimeFigureOut">
              <a:rPr lang="en-GB" smtClean="0"/>
              <a:t>01/12/2018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4432B-7765-49E8-A993-12888C77E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217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4432B-7765-49E8-A993-12888C77E0E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443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4432B-7765-49E8-A993-12888C77E0E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443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778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 smtClean="0"/>
              <a:t>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276872"/>
            <a:ext cx="82296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 smtClean="0"/>
              <a:t>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23728" y="1268760"/>
            <a:ext cx="6563072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134072" y="1844824"/>
            <a:ext cx="6563072" cy="4147865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6818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6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86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3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0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11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1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1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8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35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7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5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33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CD61-643D-44A5-A450-3A42A50CBC1E}" type="datetimeFigureOut">
              <a:rPr lang="en-US" smtClean="0"/>
              <a:t>12/1/2018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1487961" y="2708920"/>
            <a:ext cx="396044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 smtClean="0">
                <a:latin typeface="Arial" pitchFamily="34" charset="0"/>
                <a:ea typeface="맑은 고딕" pitchFamily="50" charset="-127"/>
                <a:cs typeface="Arial" pitchFamily="34" charset="0"/>
              </a:rPr>
              <a:t>Presales Function and Proposal Writing</a:t>
            </a:r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: Understanding the Ws (What, Why, When) and How</a:t>
            </a:r>
          </a:p>
          <a:p>
            <a:pPr algn="ctr"/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8049" y="1185933"/>
            <a:ext cx="172819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 smtClean="0">
                <a:solidFill>
                  <a:schemeClr val="bg1"/>
                </a:solidFill>
              </a:rPr>
              <a:t>Regional Conference</a:t>
            </a:r>
          </a:p>
          <a:p>
            <a:pPr algn="ctr"/>
            <a:endParaRPr lang="en-IN" sz="1100" b="1" dirty="0">
              <a:solidFill>
                <a:schemeClr val="bg1"/>
              </a:solidFill>
            </a:endParaRPr>
          </a:p>
          <a:p>
            <a:pPr algn="ctr"/>
            <a:r>
              <a:rPr lang="en-IN" sz="1100" b="1" dirty="0" smtClean="0">
                <a:solidFill>
                  <a:schemeClr val="bg1"/>
                </a:solidFill>
              </a:rPr>
              <a:t>STC India-Hyderabad</a:t>
            </a:r>
            <a:endParaRPr lang="en-GB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22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Session Plan</a:t>
            </a:r>
            <a:endParaRPr lang="ko-KR" alt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67544" y="1340768"/>
            <a:ext cx="8229600" cy="3600400"/>
          </a:xfrm>
        </p:spPr>
        <p:txBody>
          <a:bodyPr/>
          <a:lstStyle/>
          <a:p>
            <a:pPr marL="285750" indent="-285750">
              <a:buFont typeface="Wingdings" pitchFamily="2" charset="2"/>
              <a:buChar char="§"/>
            </a:pPr>
            <a:r>
              <a:rPr lang="en-IN" altLang="ko-KR" b="1" dirty="0">
                <a:latin typeface="Arial" pitchFamily="34" charset="0"/>
                <a:cs typeface="Arial" pitchFamily="34" charset="0"/>
              </a:rPr>
              <a:t>Introduction to </a:t>
            </a:r>
            <a:r>
              <a:rPr lang="en-IN" altLang="ko-KR" b="1" dirty="0" smtClean="0">
                <a:latin typeface="Arial" pitchFamily="34" charset="0"/>
                <a:cs typeface="Arial" pitchFamily="34" charset="0"/>
              </a:rPr>
              <a:t>Presales: Overview</a:t>
            </a:r>
          </a:p>
          <a:p>
            <a:pPr marL="285750" indent="-285750">
              <a:buFont typeface="Wingdings" pitchFamily="2" charset="2"/>
              <a:buChar char="§"/>
            </a:pPr>
            <a:endParaRPr lang="en-IN" altLang="ko-KR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IN" altLang="ko-KR" b="1" dirty="0" smtClean="0">
                <a:latin typeface="Arial" pitchFamily="34" charset="0"/>
                <a:cs typeface="Arial" pitchFamily="34" charset="0"/>
              </a:rPr>
              <a:t>Core Constituents of Presales: Bid Management and Solutioning</a:t>
            </a:r>
            <a:endParaRPr lang="en-IN" altLang="ko-KR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IN" altLang="ko-KR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IN" altLang="ko-KR" b="1" dirty="0" smtClean="0">
                <a:latin typeface="Arial" pitchFamily="34" charset="0"/>
                <a:cs typeface="Arial" pitchFamily="34" charset="0"/>
              </a:rPr>
              <a:t>Proposals: Overview and Types</a:t>
            </a:r>
            <a:endParaRPr lang="en-IN" altLang="ko-KR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IN" altLang="ko-KR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IN" altLang="ko-KR" b="1" dirty="0">
                <a:latin typeface="Arial" pitchFamily="34" charset="0"/>
                <a:cs typeface="Arial" pitchFamily="34" charset="0"/>
              </a:rPr>
              <a:t>Proposal Process</a:t>
            </a:r>
          </a:p>
          <a:p>
            <a:pPr marL="285750" indent="-285750">
              <a:buFont typeface="Wingdings" pitchFamily="2" charset="2"/>
              <a:buChar char="§"/>
            </a:pPr>
            <a:endParaRPr lang="en-IN" altLang="ko-KR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IN" altLang="ko-KR" b="1" dirty="0" smtClean="0">
                <a:latin typeface="Arial" pitchFamily="34" charset="0"/>
                <a:cs typeface="Arial" pitchFamily="34" charset="0"/>
              </a:rPr>
              <a:t>Quality Management of Proposals: Shipley Assessment</a:t>
            </a:r>
          </a:p>
          <a:p>
            <a:pPr marL="285750" indent="-285750">
              <a:buFont typeface="Wingdings" pitchFamily="2" charset="2"/>
              <a:buChar char="§"/>
            </a:pPr>
            <a:endParaRPr lang="en-IN" altLang="ko-KR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IN" altLang="ko-KR" b="1" dirty="0" smtClean="0">
                <a:latin typeface="Arial" pitchFamily="34" charset="0"/>
                <a:cs typeface="Arial" pitchFamily="34" charset="0"/>
              </a:rPr>
              <a:t>Where does the Writer/Editor Stand: Tips for Proposal Writers/Editors</a:t>
            </a:r>
            <a:endParaRPr lang="en-IN" altLang="ko-KR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76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31640" y="0"/>
            <a:ext cx="7740352" cy="864096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en-US" altLang="ko-KR" sz="2800" dirty="0" smtClean="0"/>
              <a:t>Presales: Overview and Constituents</a:t>
            </a:r>
            <a:endParaRPr lang="ko-KR" altLang="en-US" sz="2800" dirty="0"/>
          </a:p>
        </p:txBody>
      </p:sp>
      <p:sp>
        <p:nvSpPr>
          <p:cNvPr id="13" name="Content Placeholder 12"/>
          <p:cNvSpPr>
            <a:spLocks noGrp="1"/>
          </p:cNvSpPr>
          <p:nvPr>
            <p:ph idx="10"/>
          </p:nvPr>
        </p:nvSpPr>
        <p:spPr>
          <a:xfrm>
            <a:off x="1475656" y="1268760"/>
            <a:ext cx="6563072" cy="4147865"/>
          </a:xfrm>
        </p:spPr>
        <p:txBody>
          <a:bodyPr/>
          <a:lstStyle/>
          <a:p>
            <a:pPr marL="285750" indent="-285750">
              <a:buFont typeface="Wingdings" pitchFamily="2" charset="2"/>
              <a:buChar char="§"/>
            </a:pPr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What is Presales?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Typical Activities in Scope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Bid Management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Solutioning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67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75656" y="0"/>
            <a:ext cx="7524328" cy="1069514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en-US" altLang="ko-KR" sz="2800" dirty="0" smtClean="0"/>
              <a:t>Proposal Overview, Types and Process</a:t>
            </a:r>
            <a:endParaRPr lang="ko-KR" altLang="en-US" sz="2800" dirty="0"/>
          </a:p>
        </p:txBody>
      </p:sp>
      <p:sp>
        <p:nvSpPr>
          <p:cNvPr id="13" name="Content Placeholder 12"/>
          <p:cNvSpPr>
            <a:spLocks noGrp="1"/>
          </p:cNvSpPr>
          <p:nvPr>
            <p:ph idx="10"/>
          </p:nvPr>
        </p:nvSpPr>
        <p:spPr>
          <a:xfrm>
            <a:off x="1475656" y="1268760"/>
            <a:ext cx="6563072" cy="4147865"/>
          </a:xfrm>
        </p:spPr>
        <p:txBody>
          <a:bodyPr/>
          <a:lstStyle/>
          <a:p>
            <a:pPr marL="285750" indent="-285750">
              <a:buFont typeface="Wingdings" pitchFamily="2" charset="2"/>
              <a:buChar char="§"/>
            </a:pPr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What are Proposals?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Why are they important?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What are different types of proposals?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Proposal process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932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15616" y="-26504"/>
            <a:ext cx="7740352" cy="1069514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en-US" altLang="ko-KR" sz="2800" dirty="0" smtClean="0"/>
              <a:t>Quality Management of Proposals: Shipley</a:t>
            </a:r>
            <a:endParaRPr lang="ko-KR" altLang="en-US" sz="2800" dirty="0"/>
          </a:p>
        </p:txBody>
      </p:sp>
      <p:sp>
        <p:nvSpPr>
          <p:cNvPr id="13" name="Content Placeholder 12"/>
          <p:cNvSpPr>
            <a:spLocks noGrp="1"/>
          </p:cNvSpPr>
          <p:nvPr>
            <p:ph idx="10"/>
          </p:nvPr>
        </p:nvSpPr>
        <p:spPr>
          <a:xfrm>
            <a:off x="1475656" y="1268760"/>
            <a:ext cx="6563072" cy="4147865"/>
          </a:xfrm>
        </p:spPr>
        <p:txBody>
          <a:bodyPr/>
          <a:lstStyle/>
          <a:p>
            <a:pPr marL="285750" indent="-285750">
              <a:buFont typeface="Wingdings" pitchFamily="2" charset="2"/>
              <a:buChar char="§"/>
            </a:pPr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What is Shipley?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How does it work?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Various Parameters of Shipley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950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15616" y="-26504"/>
            <a:ext cx="7740352" cy="1069514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en-US" altLang="ko-KR" sz="2800" dirty="0" smtClean="0"/>
              <a:t>Where Does a Writer Stand?: Tips</a:t>
            </a:r>
            <a:endParaRPr lang="ko-KR" altLang="en-US" sz="2800" dirty="0"/>
          </a:p>
        </p:txBody>
      </p:sp>
      <p:sp>
        <p:nvSpPr>
          <p:cNvPr id="13" name="Content Placeholder 12"/>
          <p:cNvSpPr>
            <a:spLocks noGrp="1"/>
          </p:cNvSpPr>
          <p:nvPr>
            <p:ph idx="10"/>
          </p:nvPr>
        </p:nvSpPr>
        <p:spPr>
          <a:xfrm>
            <a:off x="1475656" y="1268760"/>
            <a:ext cx="6912768" cy="4752528"/>
          </a:xfrm>
        </p:spPr>
        <p:txBody>
          <a:bodyPr/>
          <a:lstStyle/>
          <a:p>
            <a:pPr marL="285750" indent="-285750">
              <a:buFont typeface="Wingdings" pitchFamily="2" charset="2"/>
              <a:buChar char="§"/>
            </a:pP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It is for those who like research based, creative work.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altLang="ko-KR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It involves thorough research, fact based creative writing and ability to connect the dots.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altLang="ko-KR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If involved from the beginning, a writer/editor can contribute to story-boarding, template formation, generic non-technical content writing, reviews/editing and so on.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altLang="ko-KR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The writer/editor needs to check the following:</a:t>
            </a: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Proposals follow appropriate template/format and English.</a:t>
            </a:r>
            <a:endParaRPr lang="en-US" altLang="en-US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Proposals maintain the quality of language:</a:t>
            </a:r>
            <a:endParaRPr lang="en-US" altLang="en-US" dirty="0">
              <a:latin typeface="Arial" pitchFamily="34" charset="0"/>
              <a:cs typeface="Arial" pitchFamily="34" charset="0"/>
            </a:endParaRPr>
          </a:p>
          <a:p>
            <a:pPr marL="685800" lvl="1" indent="-342900">
              <a:buFont typeface="Courier New" pitchFamily="49" charset="0"/>
              <a:buChar char="o"/>
              <a:defRPr/>
            </a:pPr>
            <a:r>
              <a:rPr lang="en-US" altLang="en-US" sz="1400" dirty="0" smtClean="0">
                <a:latin typeface="Arial" pitchFamily="34" charset="0"/>
                <a:cs typeface="Arial" pitchFamily="34" charset="0"/>
              </a:rPr>
              <a:t>No typos</a:t>
            </a:r>
            <a:r>
              <a:rPr lang="en-US" altLang="en-US" sz="1400" dirty="0">
                <a:latin typeface="Arial" pitchFamily="34" charset="0"/>
                <a:cs typeface="Arial" pitchFamily="34" charset="0"/>
              </a:rPr>
              <a:t>, spelling </a:t>
            </a:r>
            <a:r>
              <a:rPr lang="en-US" altLang="en-US" sz="1400" dirty="0" smtClean="0">
                <a:latin typeface="Arial" pitchFamily="34" charset="0"/>
                <a:cs typeface="Arial" pitchFamily="34" charset="0"/>
              </a:rPr>
              <a:t>errors</a:t>
            </a:r>
            <a:endParaRPr lang="en-US" altLang="en-US" sz="1400" dirty="0">
              <a:latin typeface="Arial" pitchFamily="34" charset="0"/>
              <a:cs typeface="Arial" pitchFamily="34" charset="0"/>
            </a:endParaRPr>
          </a:p>
          <a:p>
            <a:pPr marL="685800" lvl="1" indent="-342900">
              <a:buFont typeface="Courier New" pitchFamily="49" charset="0"/>
              <a:buChar char="o"/>
              <a:defRPr/>
            </a:pPr>
            <a:r>
              <a:rPr lang="en-US" altLang="en-US" sz="1400" dirty="0">
                <a:latin typeface="Arial" pitchFamily="34" charset="0"/>
                <a:cs typeface="Arial" pitchFamily="34" charset="0"/>
              </a:rPr>
              <a:t>Cut and paste content without </a:t>
            </a:r>
            <a:r>
              <a:rPr lang="en-US" altLang="en-US" sz="1400" dirty="0" smtClean="0">
                <a:latin typeface="Arial" pitchFamily="34" charset="0"/>
                <a:cs typeface="Arial" pitchFamily="34" charset="0"/>
              </a:rPr>
              <a:t>modifications</a:t>
            </a:r>
          </a:p>
          <a:p>
            <a:pPr marL="685800" lvl="1" indent="-342900">
              <a:buFont typeface="Courier New" pitchFamily="49" charset="0"/>
              <a:buChar char="o"/>
              <a:defRPr/>
            </a:pPr>
            <a:endParaRPr lang="en-US" altLang="en-US" sz="1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Proposals respond to RFP accurately and comprehensively.</a:t>
            </a: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endParaRPr lang="en-US" altLang="en-US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Does not contain no/poor 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response </a:t>
            </a: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to the their 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technical/business </a:t>
            </a: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challenge.</a:t>
            </a:r>
            <a:endParaRPr lang="en-US" altLang="en-US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25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15616" y="-26504"/>
            <a:ext cx="7740352" cy="1069514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en-US" altLang="ko-KR" sz="2800" dirty="0" smtClean="0"/>
              <a:t>Where Does a Writer Stand?: Tips</a:t>
            </a:r>
            <a:endParaRPr lang="ko-KR" altLang="en-US" sz="2800" dirty="0"/>
          </a:p>
        </p:txBody>
      </p:sp>
      <p:sp>
        <p:nvSpPr>
          <p:cNvPr id="13" name="Content Placeholder 12"/>
          <p:cNvSpPr>
            <a:spLocks noGrp="1"/>
          </p:cNvSpPr>
          <p:nvPr>
            <p:ph idx="10"/>
          </p:nvPr>
        </p:nvSpPr>
        <p:spPr>
          <a:xfrm>
            <a:off x="1331640" y="1196752"/>
            <a:ext cx="7704856" cy="4248472"/>
          </a:xfrm>
        </p:spPr>
        <p:txBody>
          <a:bodyPr/>
          <a:lstStyle/>
          <a:p>
            <a:r>
              <a:rPr lang="en-US" altLang="ko-KR" dirty="0" smtClean="0">
                <a:latin typeface="Arial" pitchFamily="34" charset="0"/>
                <a:cs typeface="Arial" pitchFamily="34" charset="0"/>
              </a:rPr>
              <a:t>Ensure that the proposals are free of the following seven deadly mistakes:</a:t>
            </a:r>
          </a:p>
          <a:p>
            <a:endParaRPr lang="en-US" altLang="ko-KR" dirty="0" smtClean="0">
              <a:latin typeface="Arial" pitchFamily="34" charset="0"/>
              <a:cs typeface="Arial" pitchFamily="34" charset="0"/>
            </a:endParaRPr>
          </a:p>
          <a:p>
            <a:pPr marL="285750" indent="-285750" fontAlgn="auto">
              <a:spcBef>
                <a:spcPts val="12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CA" altLang="en-US" dirty="0">
                <a:latin typeface="Myriad Pro" pitchFamily="34" charset="0"/>
              </a:rPr>
              <a:t>Fail to focus on the client’s business problems and payoffs-content sounds </a:t>
            </a:r>
            <a:r>
              <a:rPr lang="en-CA" altLang="en-US" dirty="0" smtClean="0">
                <a:latin typeface="Myriad Pro" pitchFamily="34" charset="0"/>
              </a:rPr>
              <a:t>generic</a:t>
            </a:r>
            <a:endParaRPr lang="en-CA" altLang="en-US" dirty="0">
              <a:latin typeface="Myriad Pro" pitchFamily="34" charset="0"/>
            </a:endParaRPr>
          </a:p>
          <a:p>
            <a:pPr marL="285750" indent="-285750" fontAlgn="auto">
              <a:spcBef>
                <a:spcPts val="12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CA" altLang="en-US" dirty="0">
                <a:latin typeface="Myriad Pro" pitchFamily="34" charset="0"/>
              </a:rPr>
              <a:t>No persuasive structure-the ‘information dump’ syndrome</a:t>
            </a:r>
          </a:p>
          <a:p>
            <a:pPr marL="285750" indent="-285750" fontAlgn="auto">
              <a:spcBef>
                <a:spcPts val="12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CA" altLang="en-US" dirty="0">
                <a:latin typeface="Myriad Pro" pitchFamily="34" charset="0"/>
              </a:rPr>
              <a:t>No clear differentiation</a:t>
            </a:r>
          </a:p>
          <a:p>
            <a:pPr marL="285750" indent="-285750" fontAlgn="auto">
              <a:spcBef>
                <a:spcPts val="12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CA" altLang="en-US" dirty="0">
                <a:latin typeface="Myriad Pro" pitchFamily="34" charset="0"/>
              </a:rPr>
              <a:t>Fail to offer a compelling value proposition</a:t>
            </a:r>
          </a:p>
          <a:p>
            <a:pPr marL="285750" indent="-285750" fontAlgn="auto">
              <a:spcBef>
                <a:spcPts val="12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CA" altLang="en-US" dirty="0">
                <a:latin typeface="Myriad Pro" pitchFamily="34" charset="0"/>
              </a:rPr>
              <a:t>Key points are buried-no impact, no highlights</a:t>
            </a:r>
          </a:p>
          <a:p>
            <a:pPr marL="285750" indent="-285750" fontAlgn="auto">
              <a:spcBef>
                <a:spcPts val="12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CA" altLang="en-US" dirty="0">
                <a:latin typeface="Myriad Pro" pitchFamily="34" charset="0"/>
              </a:rPr>
              <a:t>Difficult to read because the proposal document is full of jargon, too long, too technical</a:t>
            </a:r>
          </a:p>
          <a:p>
            <a:pPr marL="285750" indent="-285750" fontAlgn="auto">
              <a:spcBef>
                <a:spcPts val="12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CA" altLang="en-US" dirty="0">
                <a:latin typeface="Myriad Pro" pitchFamily="34" charset="0"/>
              </a:rPr>
              <a:t>Credibility killers:  Wrong spellings, grammar and punctuation errors, wrong client name, inconsistent formats and so on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altLang="ko-KR" sz="1800" b="1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029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87624" y="1556792"/>
            <a:ext cx="6264696" cy="3456384"/>
          </a:xfrm>
        </p:spPr>
        <p:txBody>
          <a:bodyPr/>
          <a:lstStyle/>
          <a:p>
            <a:pPr algn="ctr"/>
            <a:r>
              <a:rPr lang="en-US" altLang="ko-KR" dirty="0" smtClean="0"/>
              <a:t> </a:t>
            </a:r>
            <a:br>
              <a:rPr lang="en-US" altLang="ko-KR" dirty="0" smtClean="0"/>
            </a:b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Questions?</a:t>
            </a:r>
            <a:br>
              <a:rPr lang="en-US" altLang="ko-KR" dirty="0" smtClean="0"/>
            </a:b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Thank You</a:t>
            </a:r>
            <a:r>
              <a:rPr lang="en-US" altLang="ko-KR" sz="3200" dirty="0"/>
              <a:t/>
            </a:r>
            <a:br>
              <a:rPr lang="en-US" altLang="ko-KR" sz="3200" dirty="0"/>
            </a:br>
            <a:r>
              <a:rPr lang="ko-KR" altLang="en-US" dirty="0"/>
              <a:t/>
            </a:r>
            <a:br>
              <a:rPr lang="ko-KR" altLang="en-US" dirty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662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</TotalTime>
  <Words>338</Words>
  <Application>Microsoft Office PowerPoint</Application>
  <PresentationFormat>On-screen Show (4:3)</PresentationFormat>
  <Paragraphs>115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Office Theme</vt:lpstr>
      <vt:lpstr>Custom Design</vt:lpstr>
      <vt:lpstr>PowerPoint Presentation</vt:lpstr>
      <vt:lpstr> Session Plan</vt:lpstr>
      <vt:lpstr> Presales: Overview and Constituents</vt:lpstr>
      <vt:lpstr> Proposal Overview, Types and Process</vt:lpstr>
      <vt:lpstr> Quality Management of Proposals: Shipley</vt:lpstr>
      <vt:lpstr> Where Does a Writer Stand?: Tips</vt:lpstr>
      <vt:lpstr> Where Does a Writer Stand?: Tips</vt:lpstr>
      <vt:lpstr>    Questions?  Thank You   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Anshu Joshi</cp:lastModifiedBy>
  <cp:revision>37</cp:revision>
  <dcterms:created xsi:type="dcterms:W3CDTF">2014-04-01T16:35:38Z</dcterms:created>
  <dcterms:modified xsi:type="dcterms:W3CDTF">2018-12-01T12:12:47Z</dcterms:modified>
</cp:coreProperties>
</file>