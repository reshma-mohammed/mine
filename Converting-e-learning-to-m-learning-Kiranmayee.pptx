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8"/>
  </p:notesMasterIdLst>
  <p:sldIdLst>
    <p:sldId id="405" r:id="rId3"/>
    <p:sldId id="406" r:id="rId4"/>
    <p:sldId id="408" r:id="rId5"/>
    <p:sldId id="412" r:id="rId6"/>
    <p:sldId id="432" r:id="rId7"/>
    <p:sldId id="411" r:id="rId8"/>
    <p:sldId id="431" r:id="rId9"/>
    <p:sldId id="413" r:id="rId10"/>
    <p:sldId id="450" r:id="rId11"/>
    <p:sldId id="414" r:id="rId12"/>
    <p:sldId id="429" r:id="rId13"/>
    <p:sldId id="430" r:id="rId14"/>
    <p:sldId id="415" r:id="rId15"/>
    <p:sldId id="449" r:id="rId16"/>
    <p:sldId id="434" r:id="rId17"/>
    <p:sldId id="436" r:id="rId18"/>
    <p:sldId id="437" r:id="rId19"/>
    <p:sldId id="435" r:id="rId20"/>
    <p:sldId id="433" r:id="rId21"/>
    <p:sldId id="438" r:id="rId22"/>
    <p:sldId id="439" r:id="rId23"/>
    <p:sldId id="440" r:id="rId24"/>
    <p:sldId id="448" r:id="rId25"/>
    <p:sldId id="441" r:id="rId26"/>
    <p:sldId id="442" r:id="rId27"/>
    <p:sldId id="443" r:id="rId28"/>
    <p:sldId id="445" r:id="rId29"/>
    <p:sldId id="444" r:id="rId30"/>
    <p:sldId id="424" r:id="rId31"/>
    <p:sldId id="446" r:id="rId32"/>
    <p:sldId id="447" r:id="rId33"/>
    <p:sldId id="451" r:id="rId34"/>
    <p:sldId id="452" r:id="rId35"/>
    <p:sldId id="404" r:id="rId36"/>
    <p:sldId id="276" r:id="rId37"/>
  </p:sldIdLst>
  <p:sldSz cx="9144000" cy="6858000" type="screen4x3"/>
  <p:notesSz cx="6858000" cy="9144000"/>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mn-cs"/>
      </a:defRPr>
    </a:lvl1pPr>
    <a:lvl2pPr marL="457200" algn="ctr" rtl="0" fontAlgn="base">
      <a:spcBef>
        <a:spcPct val="0"/>
      </a:spcBef>
      <a:spcAft>
        <a:spcPct val="0"/>
      </a:spcAft>
      <a:defRPr sz="2400" kern="1200">
        <a:solidFill>
          <a:schemeClr val="tx1"/>
        </a:solidFill>
        <a:latin typeface="Times New Roman" pitchFamily="18" charset="0"/>
        <a:ea typeface="+mn-ea"/>
        <a:cs typeface="+mn-cs"/>
      </a:defRPr>
    </a:lvl2pPr>
    <a:lvl3pPr marL="914400" algn="ctr" rtl="0" fontAlgn="base">
      <a:spcBef>
        <a:spcPct val="0"/>
      </a:spcBef>
      <a:spcAft>
        <a:spcPct val="0"/>
      </a:spcAft>
      <a:defRPr sz="2400" kern="1200">
        <a:solidFill>
          <a:schemeClr val="tx1"/>
        </a:solidFill>
        <a:latin typeface="Times New Roman" pitchFamily="18" charset="0"/>
        <a:ea typeface="+mn-ea"/>
        <a:cs typeface="+mn-cs"/>
      </a:defRPr>
    </a:lvl3pPr>
    <a:lvl4pPr marL="1371600" algn="ctr" rtl="0" fontAlgn="base">
      <a:spcBef>
        <a:spcPct val="0"/>
      </a:spcBef>
      <a:spcAft>
        <a:spcPct val="0"/>
      </a:spcAft>
      <a:defRPr sz="2400" kern="1200">
        <a:solidFill>
          <a:schemeClr val="tx1"/>
        </a:solidFill>
        <a:latin typeface="Times New Roman" pitchFamily="18" charset="0"/>
        <a:ea typeface="+mn-ea"/>
        <a:cs typeface="+mn-cs"/>
      </a:defRPr>
    </a:lvl4pPr>
    <a:lvl5pPr marL="1828800" algn="ctr"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80"/>
    <a:srgbClr val="800000"/>
    <a:srgbClr val="0033CC"/>
    <a:srgbClr val="33CC33"/>
    <a:srgbClr val="9900CC"/>
    <a:srgbClr val="FFFF99"/>
    <a:srgbClr val="000099"/>
    <a:srgbClr val="990033"/>
    <a:srgbClr val="FF7C80"/>
    <a:srgbClr val="FFFF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32787"/>
    <p:restoredTop sz="90929"/>
  </p:normalViewPr>
  <p:slideViewPr>
    <p:cSldViewPr>
      <p:cViewPr varScale="1">
        <p:scale>
          <a:sx n="69" d="100"/>
          <a:sy n="69" d="100"/>
        </p:scale>
        <p:origin x="-174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163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696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63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64979D8-4B74-4D82-B880-A69CEF9C3DB9}" type="slidenum">
              <a:rPr lang="en-US"/>
              <a:pPr>
                <a:defRPr/>
              </a:pPr>
              <a:t>‹#›</a:t>
            </a:fld>
            <a:endParaRPr lang="en-US"/>
          </a:p>
        </p:txBody>
      </p:sp>
    </p:spTree>
    <p:extLst>
      <p:ext uri="{BB962C8B-B14F-4D97-AF65-F5344CB8AC3E}">
        <p14:creationId xmlns:p14="http://schemas.microsoft.com/office/powerpoint/2010/main" xmlns="" val="7740099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smtClean="0"/>
              <a:t>STC Workshop – Sept, 2013</a:t>
            </a:r>
            <a:endParaRPr lang="en-US" dirty="0"/>
          </a:p>
        </p:txBody>
      </p:sp>
      <p:sp>
        <p:nvSpPr>
          <p:cNvPr id="5" name="Rectangle 4"/>
          <p:cNvSpPr>
            <a:spLocks noGrp="1" noChangeArrowheads="1"/>
          </p:cNvSpPr>
          <p:nvPr>
            <p:ph type="dt" sz="half"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6934200" y="6248400"/>
            <a:ext cx="1905000" cy="457200"/>
          </a:xfrm>
          <a:ln/>
        </p:spPr>
        <p:txBody>
          <a:bodyPr/>
          <a:lstStyle>
            <a:lvl1pPr>
              <a:defRPr/>
            </a:lvl1pPr>
          </a:lstStyle>
          <a:p>
            <a:pPr>
              <a:defRPr/>
            </a:pPr>
            <a:fld id="{42C345F3-939B-403E-9CD1-4FCF5A88134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234F99-89F0-4A23-9214-B9C149C2B8A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5" name="Rectangle 4"/>
          <p:cNvSpPr>
            <a:spLocks noGrp="1" noChangeArrowheads="1"/>
          </p:cNvSpPr>
          <p:nvPr>
            <p:ph type="dt" sz="half"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E3FDF3A-BA95-4577-B59D-BF1125DB236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6" name="Rectangle 4"/>
          <p:cNvSpPr>
            <a:spLocks noGrp="1" noChangeArrowheads="1"/>
          </p:cNvSpPr>
          <p:nvPr>
            <p:ph type="dt" sz="half"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0019593-6819-41BD-883D-1E241308879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8" name="Rectangle 4"/>
          <p:cNvSpPr>
            <a:spLocks noGrp="1" noChangeArrowheads="1"/>
          </p:cNvSpPr>
          <p:nvPr>
            <p:ph type="dt" sz="half"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CC8AC3D-C5B4-4303-99A1-AF0C164277A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4" name="Rectangle 4"/>
          <p:cNvSpPr>
            <a:spLocks noGrp="1" noChangeArrowheads="1"/>
          </p:cNvSpPr>
          <p:nvPr>
            <p:ph type="dt" sz="half"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FBF64338-4098-4A41-B235-0DCC6E3B5C8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3" name="Rectangle 4"/>
          <p:cNvSpPr>
            <a:spLocks noGrp="1" noChangeArrowheads="1"/>
          </p:cNvSpPr>
          <p:nvPr>
            <p:ph type="dt" sz="half"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1FC2E0F-266D-43D4-B1AB-0461FEBD68F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6" name="Rectangle 4"/>
          <p:cNvSpPr>
            <a:spLocks noGrp="1" noChangeArrowheads="1"/>
          </p:cNvSpPr>
          <p:nvPr>
            <p:ph type="dt" sz="half"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3E1E7F-1F81-4F14-B10D-1ACE00465C8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6" name="Rectangle 4"/>
          <p:cNvSpPr>
            <a:spLocks noGrp="1" noChangeArrowheads="1"/>
          </p:cNvSpPr>
          <p:nvPr>
            <p:ph type="dt" sz="half"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FDACD61-AB81-4E68-A405-AD0159BBF4F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5" name="Rectangle 4"/>
          <p:cNvSpPr>
            <a:spLocks noGrp="1" noChangeArrowheads="1"/>
          </p:cNvSpPr>
          <p:nvPr>
            <p:ph type="dt" sz="half"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3445FC2-1759-430B-BF1F-D9B0670D07D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Performance Appraisal - Workshop</a:t>
            </a:r>
          </a:p>
        </p:txBody>
      </p:sp>
      <p:sp>
        <p:nvSpPr>
          <p:cNvPr id="5" name="Rectangle 4"/>
          <p:cNvSpPr>
            <a:spLocks noGrp="1" noChangeArrowheads="1"/>
          </p:cNvSpPr>
          <p:nvPr>
            <p:ph type="dt" sz="half"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E77E89B-3EDF-4540-BDB9-95D40C78ED60}"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1453689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7289776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1967621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2959093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1812252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3778799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20383295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4782436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3766029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20663501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06B532-7287-4C99-AFE1-966215493918}" type="datetimeFigureOut">
              <a:rPr lang="en-US" smtClean="0"/>
              <a:pPr/>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2922061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7"/>
          <p:cNvGraphicFramePr>
            <a:graphicFrameLocks noChangeAspect="1"/>
          </p:cNvGraphicFramePr>
          <p:nvPr/>
        </p:nvGraphicFramePr>
        <p:xfrm>
          <a:off x="0" y="0"/>
          <a:ext cx="9144000" cy="6858000"/>
        </p:xfrm>
        <a:graphic>
          <a:graphicData uri="http://schemas.openxmlformats.org/presentationml/2006/ole">
            <p:oleObj spid="_x0000_s1075" name="Photo Editor Photo" r:id="rId14" imgW="2381582" imgH="1609524" progId="">
              <p:embed/>
            </p:oleObj>
          </a:graphicData>
        </a:graphic>
      </p:graphicFrame>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r>
              <a:rPr lang="en-US"/>
              <a:t>Performance Appraisal - Workshop</a:t>
            </a:r>
          </a:p>
        </p:txBody>
      </p:sp>
      <p:sp>
        <p:nvSpPr>
          <p:cNvPr id="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30"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pPr>
              <a:defRPr/>
            </a:pPr>
            <a:endParaRPr lang="en-US"/>
          </a:p>
        </p:txBody>
      </p:sp>
      <p:sp>
        <p:nvSpPr>
          <p:cNvPr id="3"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B832104-9400-4752-8030-05C0B0D391B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06B532-7287-4C99-AFE1-966215493918}" type="datetimeFigureOut">
              <a:rPr lang="en-US" smtClean="0"/>
              <a:pPr/>
              <a:t>12/14/2018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2E46BC-D57F-4768-B27A-F1A1652F8F56}" type="slidenum">
              <a:rPr lang="en-US" smtClean="0"/>
              <a:pPr/>
              <a:t>‹#›</a:t>
            </a:fld>
            <a:endParaRPr lang="en-US"/>
          </a:p>
        </p:txBody>
      </p:sp>
    </p:spTree>
    <p:extLst>
      <p:ext uri="{BB962C8B-B14F-4D97-AF65-F5344CB8AC3E}">
        <p14:creationId xmlns:p14="http://schemas.microsoft.com/office/powerpoint/2010/main" xmlns="" val="1065811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4.ncsu.edu/unity/lockers/users/f/felder/public/ILSpage.html" TargetMode="External"/><Relationship Id="rId2" Type="http://schemas.openxmlformats.org/officeDocument/2006/relationships/hyperlink" Target="http://www4.ncsu.edu/unity/lockers/users/f/felder/public/ILSdir/styles.ht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wikitude.com/" TargetMode="External"/><Relationship Id="rId3" Type="http://schemas.openxmlformats.org/officeDocument/2006/relationships/hyperlink" Target="http://aurasma.com/" TargetMode="External"/><Relationship Id="rId7" Type="http://schemas.openxmlformats.org/officeDocument/2006/relationships/hyperlink" Target="http://vuforia.com/" TargetMode="External"/><Relationship Id="rId2" Type="http://schemas.openxmlformats.org/officeDocument/2006/relationships/hyperlink" Target="http://arisgames.org/" TargetMode="External"/><Relationship Id="rId1" Type="http://schemas.openxmlformats.org/officeDocument/2006/relationships/slideLayout" Target="../slideLayouts/slideLayout2.xml"/><Relationship Id="rId6" Type="http://schemas.openxmlformats.org/officeDocument/2006/relationships/hyperlink" Target="http://metaio.com/" TargetMode="External"/><Relationship Id="rId5" Type="http://schemas.openxmlformats.org/officeDocument/2006/relationships/hyperlink" Target="http://layar.com/" TargetMode="External"/><Relationship Id="rId4" Type="http://schemas.openxmlformats.org/officeDocument/2006/relationships/hyperlink" Target="http://junaio.com/"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solidFill>
                  <a:srgbClr val="800080"/>
                </a:solidFill>
                <a:latin typeface="Arial" pitchFamily="34" charset="0"/>
                <a:cs typeface="Arial" pitchFamily="34" charset="0"/>
              </a:rPr>
              <a:t>Converting Legacy Content e-learning to m-learning</a:t>
            </a:r>
            <a:endParaRPr lang="en-IN" b="1" dirty="0">
              <a:solidFill>
                <a:srgbClr val="800080"/>
              </a:solidFill>
              <a:latin typeface="Arial" pitchFamily="34" charset="0"/>
              <a:cs typeface="Arial" pitchFamily="34" charset="0"/>
            </a:endParaRPr>
          </a:p>
        </p:txBody>
      </p:sp>
      <p:sp>
        <p:nvSpPr>
          <p:cNvPr id="3" name="Subtitle 2"/>
          <p:cNvSpPr>
            <a:spLocks noGrp="1"/>
          </p:cNvSpPr>
          <p:nvPr>
            <p:ph type="subTitle" idx="1"/>
          </p:nvPr>
        </p:nvSpPr>
        <p:spPr>
          <a:xfrm>
            <a:off x="1371600" y="3886200"/>
            <a:ext cx="6400800" cy="685800"/>
          </a:xfrm>
        </p:spPr>
        <p:txBody>
          <a:bodyPr/>
          <a:lstStyle/>
          <a:p>
            <a:r>
              <a:rPr lang="en-IN" b="1" dirty="0" err="1" smtClean="0">
                <a:solidFill>
                  <a:srgbClr val="C00000"/>
                </a:solidFill>
                <a:latin typeface="Arial" pitchFamily="34" charset="0"/>
                <a:cs typeface="Arial" pitchFamily="34" charset="0"/>
              </a:rPr>
              <a:t>Kiranmayee</a:t>
            </a:r>
            <a:r>
              <a:rPr lang="en-IN" b="1" dirty="0" smtClean="0">
                <a:solidFill>
                  <a:srgbClr val="C00000"/>
                </a:solidFill>
                <a:latin typeface="Arial" pitchFamily="34" charset="0"/>
                <a:cs typeface="Arial" pitchFamily="34" charset="0"/>
              </a:rPr>
              <a:t> </a:t>
            </a:r>
            <a:r>
              <a:rPr lang="en-IN" b="1" dirty="0" err="1" smtClean="0">
                <a:solidFill>
                  <a:srgbClr val="C00000"/>
                </a:solidFill>
                <a:latin typeface="Arial" pitchFamily="34" charset="0"/>
                <a:cs typeface="Arial" pitchFamily="34" charset="0"/>
              </a:rPr>
              <a:t>Pamarthy</a:t>
            </a:r>
            <a:endParaRPr lang="en-IN" b="1" dirty="0">
              <a:solidFill>
                <a:srgbClr val="C00000"/>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a:t>
            </a:fld>
            <a:endParaRPr lang="en-US" dirty="0"/>
          </a:p>
        </p:txBody>
      </p:sp>
    </p:spTree>
    <p:extLst>
      <p:ext uri="{BB962C8B-B14F-4D97-AF65-F5344CB8AC3E}">
        <p14:creationId xmlns:p14="http://schemas.microsoft.com/office/powerpoint/2010/main" xmlns="" val="1877770987"/>
      </p:ext>
    </p:extLst>
  </p:cSld>
  <p:clrMapOvr>
    <a:masterClrMapping/>
  </p:clrMapOvr>
  <p:transition spd="med">
    <p:wheel spokes="8"/>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4000" cy="609600"/>
          </a:xfrm>
        </p:spPr>
        <p:txBody>
          <a:bodyPr>
            <a:normAutofit/>
          </a:bodyPr>
          <a:lstStyle/>
          <a:p>
            <a:pPr algn="r"/>
            <a:r>
              <a:rPr lang="en-IN" sz="3200" b="1" dirty="0" smtClean="0">
                <a:solidFill>
                  <a:srgbClr val="C00000"/>
                </a:solidFill>
                <a:latin typeface="Arial" pitchFamily="34" charset="0"/>
                <a:cs typeface="Arial" pitchFamily="34" charset="0"/>
              </a:rPr>
              <a:t>Agenda</a:t>
            </a:r>
            <a:endParaRPr lang="en-IN" sz="32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762000" y="609600"/>
            <a:ext cx="7772400" cy="5181600"/>
          </a:xfrm>
        </p:spPr>
        <p:txBody>
          <a:bodyPr/>
          <a:lstStyle/>
          <a:p>
            <a:r>
              <a:rPr lang="en-IN" sz="2400" b="1" dirty="0" smtClean="0">
                <a:latin typeface="Arial" pitchFamily="34" charset="0"/>
                <a:cs typeface="Arial" pitchFamily="34" charset="0"/>
              </a:rPr>
              <a:t>Tracing Back...</a:t>
            </a:r>
          </a:p>
          <a:p>
            <a:r>
              <a:rPr lang="en-IN" sz="2400" b="1" dirty="0" smtClean="0">
                <a:latin typeface="Arial" pitchFamily="34" charset="0"/>
                <a:cs typeface="Arial" pitchFamily="34" charset="0"/>
              </a:rPr>
              <a:t>Research Phases</a:t>
            </a:r>
          </a:p>
          <a:p>
            <a:r>
              <a:rPr lang="en-IN" sz="2400" b="1" dirty="0" smtClean="0">
                <a:latin typeface="Arial" pitchFamily="34" charset="0"/>
                <a:cs typeface="Arial" pitchFamily="34" charset="0"/>
              </a:rPr>
              <a:t>Know your Learner</a:t>
            </a:r>
          </a:p>
          <a:p>
            <a:r>
              <a:rPr lang="en-IN" sz="2400" b="1" dirty="0" smtClean="0">
                <a:latin typeface="Arial" pitchFamily="34" charset="0"/>
                <a:cs typeface="Arial" pitchFamily="34" charset="0"/>
              </a:rPr>
              <a:t>Case Study – A school in Tanzania</a:t>
            </a:r>
          </a:p>
          <a:p>
            <a:r>
              <a:rPr lang="en-US" sz="2400" b="1" dirty="0" smtClean="0">
                <a:latin typeface="Arial" pitchFamily="34" charset="0"/>
                <a:cs typeface="Arial" pitchFamily="34" charset="0"/>
              </a:rPr>
              <a:t>Learning Models and Pedagogy</a:t>
            </a:r>
            <a:endParaRPr lang="en-IN" sz="2400" b="1" dirty="0" smtClean="0">
              <a:latin typeface="Arial" pitchFamily="34" charset="0"/>
              <a:cs typeface="Arial" pitchFamily="34" charset="0"/>
            </a:endParaRPr>
          </a:p>
          <a:p>
            <a:r>
              <a:rPr lang="en-IN" sz="2400" b="1" dirty="0" smtClean="0">
                <a:latin typeface="Arial" pitchFamily="34" charset="0"/>
                <a:cs typeface="Arial" pitchFamily="34" charset="0"/>
              </a:rPr>
              <a:t>Research Outcomes</a:t>
            </a:r>
          </a:p>
          <a:p>
            <a:r>
              <a:rPr lang="en-IN" sz="2400" b="1" dirty="0" smtClean="0">
                <a:latin typeface="Arial" pitchFamily="34" charset="0"/>
                <a:cs typeface="Arial" pitchFamily="34" charset="0"/>
              </a:rPr>
              <a:t>Why Mobile Learning?</a:t>
            </a:r>
          </a:p>
          <a:p>
            <a:r>
              <a:rPr lang="en-IN" sz="2400" b="1" dirty="0" smtClean="0">
                <a:latin typeface="Arial" pitchFamily="34" charset="0"/>
                <a:cs typeface="Arial" pitchFamily="34" charset="0"/>
              </a:rPr>
              <a:t>m-Learning - Highlights</a:t>
            </a:r>
          </a:p>
          <a:p>
            <a:r>
              <a:rPr lang="en-IN" sz="2400" b="1" dirty="0" smtClean="0">
                <a:latin typeface="Arial" pitchFamily="34" charset="0"/>
                <a:cs typeface="Arial" pitchFamily="34" charset="0"/>
              </a:rPr>
              <a:t>m-Learning Strategy and Designing</a:t>
            </a:r>
          </a:p>
          <a:p>
            <a:r>
              <a:rPr lang="en-IN" sz="2400" b="1" dirty="0" smtClean="0">
                <a:latin typeface="Arial" pitchFamily="34" charset="0"/>
                <a:cs typeface="Arial" pitchFamily="34" charset="0"/>
              </a:rPr>
              <a:t>Content creation</a:t>
            </a:r>
          </a:p>
          <a:p>
            <a:r>
              <a:rPr lang="en-IN" sz="2400" b="1" dirty="0" smtClean="0">
                <a:latin typeface="Arial" pitchFamily="34" charset="0"/>
                <a:cs typeface="Arial" pitchFamily="34" charset="0"/>
              </a:rPr>
              <a:t>Performance Support Tools (PSTs)</a:t>
            </a:r>
          </a:p>
          <a:p>
            <a:r>
              <a:rPr lang="en-IN" sz="2400" b="1" dirty="0" smtClean="0">
                <a:latin typeface="Arial" pitchFamily="34" charset="0"/>
                <a:cs typeface="Arial" pitchFamily="34" charset="0"/>
              </a:rPr>
              <a:t>Cognitive Learning – An Imagery</a:t>
            </a:r>
          </a:p>
        </p:txBody>
      </p:sp>
      <p:sp>
        <p:nvSpPr>
          <p:cNvPr id="5" name="Slide Number Placeholder 4"/>
          <p:cNvSpPr>
            <a:spLocks noGrp="1"/>
          </p:cNvSpPr>
          <p:nvPr>
            <p:ph type="sldNum" sz="quarter" idx="12"/>
          </p:nvPr>
        </p:nvSpPr>
        <p:spPr/>
        <p:txBody>
          <a:bodyPr/>
          <a:lstStyle/>
          <a:p>
            <a:fld id="{6D22F896-40B5-4ADD-8801-0D06FADFA095}" type="slidenum">
              <a:rPr lang="en-US" smtClean="0"/>
              <a:pPr/>
              <a:t>2</a:t>
            </a:fld>
            <a:endParaRPr lang="en-US" dirty="0"/>
          </a:p>
        </p:txBody>
      </p:sp>
    </p:spTree>
    <p:extLst>
      <p:ext uri="{BB962C8B-B14F-4D97-AF65-F5344CB8AC3E}">
        <p14:creationId xmlns:p14="http://schemas.microsoft.com/office/powerpoint/2010/main" xmlns="" val="602416048"/>
      </p:ext>
    </p:extLst>
  </p:cSld>
  <p:clrMapOvr>
    <a:masterClrMapping/>
  </p:clrMapOvr>
  <p:transition spd="med">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533400"/>
            <a:ext cx="8610600" cy="4876800"/>
          </a:xfrm>
        </p:spPr>
        <p:txBody>
          <a:bodyPr/>
          <a:lstStyle/>
          <a:p>
            <a:pPr marL="0" indent="0" algn="just">
              <a:buNone/>
            </a:pPr>
            <a:r>
              <a:rPr lang="en-US" sz="2400" dirty="0" smtClean="0">
                <a:latin typeface="Arial" pitchFamily="34" charset="0"/>
                <a:cs typeface="Arial" pitchFamily="34" charset="0"/>
              </a:rPr>
              <a:t>The statisticians state that a mobile user uses the device 9 times per hour! Interspersed with small intervals of non-activity. Engaging such users for learning will be a challenge if we adopt old methodologies of learning. The strategy for learning and content for training has to be revisited, revised to adapt for mobile learning. What are the challenges, risks, in converting existing content, and the content strategy? A few use cases will be added to emphasize the need for new ways to publish content on mobile devices, it is just not about responsive design!</a:t>
            </a:r>
          </a:p>
          <a:p>
            <a:pPr marL="0" indent="0" algn="just">
              <a:buNone/>
            </a:pPr>
            <a:endParaRPr lang="en-US" sz="2400" dirty="0" smtClean="0">
              <a:latin typeface="Arial" pitchFamily="34" charset="0"/>
              <a:cs typeface="Arial" pitchFamily="34" charset="0"/>
            </a:endParaRPr>
          </a:p>
          <a:p>
            <a:pPr marL="0" indent="0" algn="just">
              <a:buNone/>
            </a:pPr>
            <a:endParaRPr lang="en-US" sz="2400" dirty="0" smtClean="0">
              <a:latin typeface="Arial" pitchFamily="34" charset="0"/>
              <a:cs typeface="Arial" pitchFamily="34" charset="0"/>
            </a:endParaRPr>
          </a:p>
          <a:p>
            <a:endParaRPr lang="en-US"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pPr/>
              <a:t>3</a:t>
            </a:fld>
            <a:endParaRPr lang="en-US" dirty="0"/>
          </a:p>
        </p:txBody>
      </p:sp>
      <p:sp>
        <p:nvSpPr>
          <p:cNvPr id="6" name="Title 5"/>
          <p:cNvSpPr>
            <a:spLocks noGrp="1"/>
          </p:cNvSpPr>
          <p:nvPr>
            <p:ph type="title"/>
          </p:nvPr>
        </p:nvSpPr>
        <p:spPr>
          <a:xfrm>
            <a:off x="1371600" y="0"/>
            <a:ext cx="7772400" cy="533400"/>
          </a:xfrm>
        </p:spPr>
        <p:txBody>
          <a:bodyPr/>
          <a:lstStyle/>
          <a:p>
            <a:pPr algn="r"/>
            <a:r>
              <a:rPr lang="en-US" sz="3200" b="1" dirty="0" smtClean="0">
                <a:solidFill>
                  <a:srgbClr val="C00000"/>
                </a:solidFill>
                <a:latin typeface="Arial" pitchFamily="34" charset="0"/>
                <a:cs typeface="Arial" pitchFamily="34" charset="0"/>
              </a:rPr>
              <a:t>Abstract</a:t>
            </a:r>
            <a:endParaRPr lang="en-US" sz="3200" b="1" dirty="0">
              <a:solidFill>
                <a:srgbClr val="C00000"/>
              </a:solidFill>
              <a:latin typeface="Arial" pitchFamily="34" charset="0"/>
              <a:cs typeface="Arial" pitchFamily="34" charset="0"/>
            </a:endParaRPr>
          </a:p>
        </p:txBody>
      </p:sp>
    </p:spTree>
  </p:cSld>
  <p:clrMapOvr>
    <a:masterClrMapping/>
  </p:clrMapOvr>
  <p:transition spd="med">
    <p:newsfla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9858" y="796337"/>
            <a:ext cx="8450036" cy="4988246"/>
          </a:xfrm>
        </p:spPr>
        <p:txBody>
          <a:bodyPr/>
          <a:lstStyle/>
          <a:p>
            <a:r>
              <a:rPr lang="en-US" sz="2400" dirty="0" smtClean="0"/>
              <a:t>Concepts of m-learning was given by Alan Kay in 1970's. </a:t>
            </a:r>
          </a:p>
          <a:p>
            <a:r>
              <a:rPr lang="en-US" sz="2400" dirty="0" smtClean="0"/>
              <a:t>He joined Xerox Corporation's Palo Alto Research Center.</a:t>
            </a:r>
          </a:p>
          <a:p>
            <a:r>
              <a:rPr lang="en-US" sz="2400" dirty="0" smtClean="0"/>
              <a:t>Formed a group to develop "</a:t>
            </a:r>
            <a:r>
              <a:rPr lang="en-US" sz="2400" dirty="0" err="1" smtClean="0"/>
              <a:t>Dynabook</a:t>
            </a:r>
            <a:r>
              <a:rPr lang="en-US" sz="2400" dirty="0" smtClean="0"/>
              <a:t>", which is a portable and hands on personal computer.</a:t>
            </a:r>
          </a:p>
          <a:p>
            <a:r>
              <a:rPr lang="en-US" sz="2400" dirty="0" smtClean="0"/>
              <a:t>It aimed to let children have access to the digital world.</a:t>
            </a:r>
          </a:p>
          <a:p>
            <a:r>
              <a:rPr lang="en-US" sz="2400" dirty="0" smtClean="0"/>
              <a:t>This project failed eventually due to the lack of technological support at that time. </a:t>
            </a:r>
          </a:p>
          <a:p>
            <a:r>
              <a:rPr lang="en-US" sz="2400" dirty="0" smtClean="0"/>
              <a:t>1994, first smart phone, IBM Simon, was created by Mitsubishi Electric Corp. First handheld device.</a:t>
            </a:r>
            <a:endParaRPr lang="en-US" sz="24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4</a:t>
            </a:fld>
            <a:endParaRPr lang="en-US" dirty="0"/>
          </a:p>
        </p:txBody>
      </p:sp>
      <p:sp>
        <p:nvSpPr>
          <p:cNvPr id="7" name="Title 1"/>
          <p:cNvSpPr txBox="1">
            <a:spLocks/>
          </p:cNvSpPr>
          <p:nvPr/>
        </p:nvSpPr>
        <p:spPr bwMode="auto">
          <a:xfrm>
            <a:off x="152400" y="0"/>
            <a:ext cx="89916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0" cap="none" spc="0" normalizeH="0" baseline="0" noProof="0" dirty="0" smtClean="0">
                <a:ln>
                  <a:noFill/>
                </a:ln>
                <a:solidFill>
                  <a:srgbClr val="C00000"/>
                </a:solidFill>
                <a:effectLst/>
                <a:uLnTx/>
                <a:uFillTx/>
                <a:latin typeface="Arial" pitchFamily="34" charset="0"/>
                <a:ea typeface="+mj-ea"/>
                <a:cs typeface="Arial" pitchFamily="34" charset="0"/>
              </a:rPr>
              <a:t>Tracing back…</a:t>
            </a:r>
            <a:endParaRPr kumimoji="0" lang="en-US" sz="3200" b="1" i="0" u="none" strike="noStrike" kern="0" cap="none" spc="0" normalizeH="0" baseline="0" noProof="0" dirty="0">
              <a:ln>
                <a:noFill/>
              </a:ln>
              <a:solidFill>
                <a:srgbClr val="C00000"/>
              </a:solidFill>
              <a:effectLst/>
              <a:uLnTx/>
              <a:uFillTx/>
              <a:latin typeface="Arial" pitchFamily="34" charset="0"/>
              <a:ea typeface="+mj-ea"/>
              <a:cs typeface="Arial" pitchFamily="34" charset="0"/>
            </a:endParaRPr>
          </a:p>
        </p:txBody>
      </p:sp>
      <p:pic>
        <p:nvPicPr>
          <p:cNvPr id="6" name="Picture 5" descr="IBM Simon.jpg"/>
          <p:cNvPicPr>
            <a:picLocks noChangeAspect="1"/>
          </p:cNvPicPr>
          <p:nvPr/>
        </p:nvPicPr>
        <p:blipFill>
          <a:blip r:embed="rId2" cstate="print"/>
          <a:stretch>
            <a:fillRect/>
          </a:stretch>
        </p:blipFill>
        <p:spPr>
          <a:xfrm>
            <a:off x="5791200" y="4191000"/>
            <a:ext cx="2971800" cy="1979219"/>
          </a:xfrm>
          <a:prstGeom prst="rect">
            <a:avLst/>
          </a:prstGeom>
        </p:spPr>
      </p:pic>
    </p:spTree>
  </p:cSld>
  <p:clrMapOvr>
    <a:masterClrMapping/>
  </p:clrMapOvr>
  <p:transition spd="med">
    <p:cover dir="l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450036" cy="4988246"/>
          </a:xfrm>
        </p:spPr>
        <p:txBody>
          <a:bodyPr/>
          <a:lstStyle/>
          <a:p>
            <a:pPr>
              <a:buNone/>
            </a:pPr>
            <a:r>
              <a:rPr lang="en-US" dirty="0" smtClean="0"/>
              <a:t>3 phases</a:t>
            </a:r>
          </a:p>
          <a:p>
            <a:r>
              <a:rPr lang="en-US" dirty="0" smtClean="0"/>
              <a:t>first phase - focus upon devices</a:t>
            </a:r>
          </a:p>
          <a:p>
            <a:r>
              <a:rPr lang="en-US" dirty="0" smtClean="0"/>
              <a:t>second phase - focus on learning outside the classroom</a:t>
            </a:r>
          </a:p>
          <a:p>
            <a:r>
              <a:rPr lang="en-US" dirty="0" smtClean="0"/>
              <a:t>third phase - focus on the mobility of the learner.</a:t>
            </a:r>
          </a:p>
          <a:p>
            <a:endParaRPr lang="en-US" dirty="0" smtClean="0"/>
          </a:p>
          <a:p>
            <a:r>
              <a:rPr lang="en-US" dirty="0" smtClean="0"/>
              <a:t>Knowing your learner is very important…..</a:t>
            </a:r>
          </a:p>
          <a:p>
            <a:pPr>
              <a:buNone/>
            </a:pPr>
            <a:endParaRPr lang="en-US" dirty="0">
              <a:solidFill>
                <a:schemeClr val="tx1"/>
              </a:solidFill>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5</a:t>
            </a:fld>
            <a:endParaRPr lang="en-US" dirty="0"/>
          </a:p>
        </p:txBody>
      </p:sp>
      <p:sp>
        <p:nvSpPr>
          <p:cNvPr id="8" name="Title 1"/>
          <p:cNvSpPr>
            <a:spLocks noGrp="1"/>
          </p:cNvSpPr>
          <p:nvPr>
            <p:ph type="title"/>
          </p:nvPr>
        </p:nvSpPr>
        <p:spPr>
          <a:xfrm>
            <a:off x="152400" y="0"/>
            <a:ext cx="8991600" cy="533400"/>
          </a:xfrm>
        </p:spPr>
        <p:txBody>
          <a:bodyPr/>
          <a:lstStyle/>
          <a:p>
            <a:pPr algn="r"/>
            <a:r>
              <a:rPr lang="en-US" sz="3200" b="1" dirty="0" smtClean="0">
                <a:solidFill>
                  <a:srgbClr val="C00000"/>
                </a:solidFill>
                <a:latin typeface="Arial" pitchFamily="34" charset="0"/>
                <a:cs typeface="Arial" pitchFamily="34" charset="0"/>
              </a:rPr>
              <a:t>Research Phases</a:t>
            </a:r>
            <a:endParaRPr lang="en-US" sz="3200" b="1" dirty="0">
              <a:solidFill>
                <a:srgbClr val="C00000"/>
              </a:solidFill>
              <a:latin typeface="Arial" pitchFamily="34" charset="0"/>
              <a:cs typeface="Arial" pitchFamily="34" charset="0"/>
            </a:endParaRPr>
          </a:p>
        </p:txBody>
      </p:sp>
    </p:spTree>
  </p:cSld>
  <p:clrMapOvr>
    <a:masterClrMapping/>
  </p:clrMapOvr>
  <p:transition spd="med">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2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450036" cy="4988246"/>
          </a:xfrm>
        </p:spPr>
        <p:txBody>
          <a:bodyPr/>
          <a:lstStyle/>
          <a:p>
            <a:r>
              <a:rPr lang="en-US" sz="2400" dirty="0" smtClean="0">
                <a:solidFill>
                  <a:schemeClr val="tx1"/>
                </a:solidFill>
                <a:latin typeface="Arial" pitchFamily="34" charset="0"/>
                <a:cs typeface="Arial" pitchFamily="34" charset="0"/>
              </a:rPr>
              <a:t>Model of Learning Styles – Dr. Richard Felder and Dr. Linda K Silverman</a:t>
            </a:r>
          </a:p>
          <a:p>
            <a:r>
              <a:rPr lang="en-US" sz="2400" dirty="0" smtClean="0">
                <a:solidFill>
                  <a:schemeClr val="tx1"/>
                </a:solidFill>
                <a:latin typeface="Arial" pitchFamily="34" charset="0"/>
                <a:cs typeface="Arial" pitchFamily="34" charset="0"/>
              </a:rPr>
              <a:t>Eight different learning styles </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6</a:t>
            </a:fld>
            <a:endParaRPr lang="en-US" dirty="0"/>
          </a:p>
        </p:txBody>
      </p:sp>
      <p:graphicFrame>
        <p:nvGraphicFramePr>
          <p:cNvPr id="6" name="Table 5"/>
          <p:cNvGraphicFramePr>
            <a:graphicFrameLocks noGrp="1"/>
          </p:cNvGraphicFramePr>
          <p:nvPr/>
        </p:nvGraphicFramePr>
        <p:xfrm>
          <a:off x="381000" y="1905000"/>
          <a:ext cx="8534400" cy="4399902"/>
        </p:xfrm>
        <a:graphic>
          <a:graphicData uri="http://schemas.openxmlformats.org/drawingml/2006/table">
            <a:tbl>
              <a:tblPr firstRow="1" bandRow="1">
                <a:tableStyleId>{5C22544A-7EE6-4342-B048-85BDC9FD1C3A}</a:tableStyleId>
              </a:tblPr>
              <a:tblGrid>
                <a:gridCol w="2254428"/>
                <a:gridCol w="6279972"/>
              </a:tblGrid>
              <a:tr h="344056">
                <a:tc>
                  <a:txBody>
                    <a:bodyPr/>
                    <a:lstStyle/>
                    <a:p>
                      <a:r>
                        <a:rPr lang="en-US" sz="1800" dirty="0" smtClean="0">
                          <a:latin typeface="+mn-lt"/>
                        </a:rPr>
                        <a:t>Learner</a:t>
                      </a:r>
                      <a:endParaRPr lang="en-US" sz="1800" dirty="0">
                        <a:latin typeface="+mn-lt"/>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latin typeface="+mn-lt"/>
                        </a:rPr>
                        <a:t>Key</a:t>
                      </a:r>
                      <a:r>
                        <a:rPr lang="en-US" sz="1800" baseline="0" dirty="0" smtClean="0">
                          <a:latin typeface="+mn-lt"/>
                        </a:rPr>
                        <a:t> Characteristic</a:t>
                      </a:r>
                      <a:endParaRPr lang="en-US" sz="1800" dirty="0">
                        <a:latin typeface="+mn-lt"/>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497">
                <a:tc>
                  <a:txBody>
                    <a:bodyPr/>
                    <a:lstStyle/>
                    <a:p>
                      <a:pPr marL="0" marR="0">
                        <a:lnSpc>
                          <a:spcPct val="115000"/>
                        </a:lnSpc>
                        <a:spcBef>
                          <a:spcPts val="0"/>
                        </a:spcBef>
                        <a:spcAft>
                          <a:spcPts val="0"/>
                        </a:spcAft>
                      </a:pPr>
                      <a:r>
                        <a:rPr lang="en-US" sz="1800" dirty="0">
                          <a:latin typeface="+mn-lt"/>
                          <a:ea typeface="Calibri"/>
                          <a:cs typeface="Times New Roman"/>
                        </a:rPr>
                        <a:t>Active Learners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latin typeface="+mn-lt"/>
                          <a:ea typeface="Calibri"/>
                          <a:cs typeface="Times New Roman"/>
                        </a:rPr>
                        <a:t>Absorb material best by applying it in some fashion or explaining it to others. </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9731">
                <a:tc>
                  <a:txBody>
                    <a:bodyPr/>
                    <a:lstStyle/>
                    <a:p>
                      <a:pPr marL="0" marR="0">
                        <a:lnSpc>
                          <a:spcPct val="115000"/>
                        </a:lnSpc>
                        <a:spcBef>
                          <a:spcPts val="0"/>
                        </a:spcBef>
                        <a:spcAft>
                          <a:spcPts val="0"/>
                        </a:spcAft>
                      </a:pPr>
                      <a:r>
                        <a:rPr lang="en-US" sz="1800" dirty="0">
                          <a:latin typeface="+mn-lt"/>
                          <a:ea typeface="Calibri"/>
                          <a:cs typeface="Times New Roman"/>
                        </a:rPr>
                        <a:t>Reflective Learners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latin typeface="+mn-lt"/>
                          <a:ea typeface="Calibri"/>
                          <a:cs typeface="Times New Roman"/>
                        </a:rPr>
                        <a:t>Prefer to consider the material before doing anything with it.</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9731">
                <a:tc>
                  <a:txBody>
                    <a:bodyPr/>
                    <a:lstStyle/>
                    <a:p>
                      <a:pPr marL="0" marR="0">
                        <a:lnSpc>
                          <a:spcPct val="115000"/>
                        </a:lnSpc>
                        <a:spcBef>
                          <a:spcPts val="0"/>
                        </a:spcBef>
                        <a:spcAft>
                          <a:spcPts val="0"/>
                        </a:spcAft>
                      </a:pPr>
                      <a:r>
                        <a:rPr lang="en-US" sz="1800">
                          <a:latin typeface="+mn-lt"/>
                          <a:ea typeface="Calibri"/>
                          <a:cs typeface="Times New Roman"/>
                        </a:rPr>
                        <a:t>Sensing Learners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latin typeface="+mn-lt"/>
                          <a:ea typeface="Calibri"/>
                          <a:cs typeface="Times New Roman"/>
                        </a:rPr>
                        <a:t>Like learning facts and tend to be good with details. </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497">
                <a:tc>
                  <a:txBody>
                    <a:bodyPr/>
                    <a:lstStyle/>
                    <a:p>
                      <a:pPr marL="0" marR="0">
                        <a:lnSpc>
                          <a:spcPct val="115000"/>
                        </a:lnSpc>
                        <a:spcBef>
                          <a:spcPts val="0"/>
                        </a:spcBef>
                        <a:spcAft>
                          <a:spcPts val="0"/>
                        </a:spcAft>
                      </a:pPr>
                      <a:r>
                        <a:rPr lang="en-US" sz="1800">
                          <a:latin typeface="+mn-lt"/>
                          <a:ea typeface="Calibri"/>
                          <a:cs typeface="Times New Roman"/>
                        </a:rPr>
                        <a:t>Intuitive Learners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dirty="0">
                          <a:latin typeface="+mn-lt"/>
                          <a:ea typeface="Calibri"/>
                          <a:cs typeface="Times New Roman"/>
                        </a:rPr>
                        <a:t>Like to identify the relationships between things and are comfortable with abstract concepts. </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6748">
                <a:tc>
                  <a:txBody>
                    <a:bodyPr/>
                    <a:lstStyle/>
                    <a:p>
                      <a:pPr marL="0" marR="0">
                        <a:lnSpc>
                          <a:spcPct val="115000"/>
                        </a:lnSpc>
                        <a:spcBef>
                          <a:spcPts val="0"/>
                        </a:spcBef>
                        <a:spcAft>
                          <a:spcPts val="0"/>
                        </a:spcAft>
                      </a:pPr>
                      <a:r>
                        <a:rPr lang="en-US" sz="1800">
                          <a:latin typeface="+mn-lt"/>
                          <a:ea typeface="Calibri"/>
                          <a:cs typeface="Times New Roman"/>
                        </a:rPr>
                        <a:t>Visual Learners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latin typeface="+mn-lt"/>
                          <a:ea typeface="Calibri"/>
                          <a:cs typeface="Times New Roman"/>
                        </a:rPr>
                        <a:t>Remember best what they see</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6748">
                <a:tc>
                  <a:txBody>
                    <a:bodyPr/>
                    <a:lstStyle/>
                    <a:p>
                      <a:pPr marL="0" marR="0">
                        <a:lnSpc>
                          <a:spcPct val="115000"/>
                        </a:lnSpc>
                        <a:spcBef>
                          <a:spcPts val="0"/>
                        </a:spcBef>
                        <a:spcAft>
                          <a:spcPts val="0"/>
                        </a:spcAft>
                      </a:pPr>
                      <a:r>
                        <a:rPr lang="en-US" sz="1800">
                          <a:latin typeface="+mn-lt"/>
                          <a:ea typeface="Calibri"/>
                          <a:cs typeface="Times New Roman"/>
                        </a:rPr>
                        <a:t>Verbal  Learners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latin typeface="+mn-lt"/>
                          <a:ea typeface="Calibri"/>
                          <a:cs typeface="Times New Roman"/>
                        </a:rPr>
                        <a:t>Do better with written and spoken explanations.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497">
                <a:tc>
                  <a:txBody>
                    <a:bodyPr/>
                    <a:lstStyle/>
                    <a:p>
                      <a:pPr marL="0" marR="0">
                        <a:lnSpc>
                          <a:spcPct val="115000"/>
                        </a:lnSpc>
                        <a:spcBef>
                          <a:spcPts val="0"/>
                        </a:spcBef>
                        <a:spcAft>
                          <a:spcPts val="0"/>
                        </a:spcAft>
                      </a:pPr>
                      <a:r>
                        <a:rPr lang="en-US" sz="1800">
                          <a:latin typeface="+mn-lt"/>
                          <a:ea typeface="Calibri"/>
                          <a:cs typeface="Times New Roman"/>
                        </a:rPr>
                        <a:t>Sequential Learners </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latin typeface="+mn-lt"/>
                          <a:ea typeface="Calibri"/>
                          <a:cs typeface="Times New Roman"/>
                        </a:rPr>
                        <a:t>Like to learn by following a process from one logical step to the next</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497">
                <a:tc>
                  <a:txBody>
                    <a:bodyPr/>
                    <a:lstStyle/>
                    <a:p>
                      <a:pPr marL="0" marR="0">
                        <a:lnSpc>
                          <a:spcPct val="115000"/>
                        </a:lnSpc>
                        <a:spcBef>
                          <a:spcPts val="0"/>
                        </a:spcBef>
                        <a:spcAft>
                          <a:spcPts val="0"/>
                        </a:spcAft>
                      </a:pPr>
                      <a:r>
                        <a:rPr lang="en-US" sz="1800" dirty="0">
                          <a:latin typeface="+mn-lt"/>
                          <a:ea typeface="Calibri"/>
                          <a:cs typeface="Times New Roman"/>
                        </a:rPr>
                        <a:t>Global Learners</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dirty="0">
                          <a:latin typeface="+mn-lt"/>
                          <a:ea typeface="Calibri"/>
                          <a:cs typeface="Times New Roman"/>
                        </a:rPr>
                        <a:t>Tend to make cognitive leaps, continuously taking in information until they get it. </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Title 1"/>
          <p:cNvSpPr>
            <a:spLocks noGrp="1"/>
          </p:cNvSpPr>
          <p:nvPr>
            <p:ph type="title"/>
          </p:nvPr>
        </p:nvSpPr>
        <p:spPr>
          <a:xfrm>
            <a:off x="152400" y="0"/>
            <a:ext cx="8991600" cy="533400"/>
          </a:xfrm>
        </p:spPr>
        <p:txBody>
          <a:bodyPr/>
          <a:lstStyle/>
          <a:p>
            <a:pPr algn="r"/>
            <a:r>
              <a:rPr lang="en-US" sz="3200" b="1" dirty="0" smtClean="0">
                <a:solidFill>
                  <a:srgbClr val="C00000"/>
                </a:solidFill>
                <a:latin typeface="Arial" pitchFamily="34" charset="0"/>
                <a:cs typeface="Arial" pitchFamily="34" charset="0"/>
              </a:rPr>
              <a:t>Know your Learner</a:t>
            </a:r>
            <a:endParaRPr lang="en-US" sz="3200" b="1" dirty="0">
              <a:solidFill>
                <a:srgbClr val="C00000"/>
              </a:solidFill>
              <a:latin typeface="Arial" pitchFamily="34" charset="0"/>
              <a:cs typeface="Arial" pitchFamily="34" charset="0"/>
            </a:endParaRPr>
          </a:p>
        </p:txBody>
      </p:sp>
    </p:spTree>
  </p:cSld>
  <p:clrMapOvr>
    <a:masterClrMapping/>
  </p:clrMapOvr>
  <p:transition spd="med">
    <p:cover dir="l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9858" y="796337"/>
            <a:ext cx="8450036" cy="4988246"/>
          </a:xfrm>
        </p:spPr>
        <p:txBody>
          <a:bodyPr/>
          <a:lstStyle/>
          <a:p>
            <a:r>
              <a:rPr lang="en-US" sz="2400" u="sng" dirty="0" smtClean="0">
                <a:solidFill>
                  <a:schemeClr val="tx1"/>
                </a:solidFill>
                <a:latin typeface="Arial" pitchFamily="34" charset="0"/>
                <a:cs typeface="Arial" pitchFamily="34" charset="0"/>
                <a:hlinkClick r:id="rId2"/>
              </a:rPr>
              <a:t>http://www4.ncsu.edu/unity/lockers/users/f/felder/public/ILSdir/styles.htm</a:t>
            </a:r>
            <a:r>
              <a:rPr lang="en-US" sz="2400" dirty="0" smtClean="0">
                <a:solidFill>
                  <a:schemeClr val="tx1"/>
                </a:solidFill>
                <a:latin typeface="Arial" pitchFamily="34" charset="0"/>
                <a:cs typeface="Arial" pitchFamily="34" charset="0"/>
              </a:rPr>
              <a:t> - </a:t>
            </a:r>
            <a:r>
              <a:rPr lang="en-US" sz="2400" dirty="0" smtClean="0">
                <a:latin typeface="Arial" pitchFamily="34" charset="0"/>
                <a:cs typeface="Arial" pitchFamily="34" charset="0"/>
              </a:rPr>
              <a:t>Learning Styles and Strategies</a:t>
            </a:r>
          </a:p>
          <a:p>
            <a:r>
              <a:rPr lang="en-US" sz="2400" dirty="0" smtClean="0">
                <a:latin typeface="Arial" pitchFamily="34" charset="0"/>
                <a:cs typeface="Arial" pitchFamily="34" charset="0"/>
              </a:rPr>
              <a:t>Index of Learning Styles (ILS) – Dr. Richard Felder and Dr. Barbara A. </a:t>
            </a:r>
            <a:r>
              <a:rPr lang="en-US" sz="2400" dirty="0" err="1" smtClean="0">
                <a:latin typeface="Arial" pitchFamily="34" charset="0"/>
                <a:cs typeface="Arial" pitchFamily="34" charset="0"/>
              </a:rPr>
              <a:t>Soloman</a:t>
            </a:r>
            <a:endParaRPr lang="en-US" sz="2400" dirty="0" smtClean="0">
              <a:latin typeface="Arial" pitchFamily="34" charset="0"/>
              <a:cs typeface="Arial" pitchFamily="34" charset="0"/>
            </a:endParaRPr>
          </a:p>
          <a:p>
            <a:r>
              <a:rPr lang="en-US" sz="2400" u="sng" dirty="0" smtClean="0">
                <a:latin typeface="Arial" pitchFamily="34" charset="0"/>
                <a:cs typeface="Arial" pitchFamily="34" charset="0"/>
                <a:hlinkClick r:id="rId3"/>
              </a:rPr>
              <a:t>http://www4.ncsu.edu/unity/lockers/users/f/felder/public/ILSpage.html</a:t>
            </a:r>
            <a:r>
              <a:rPr lang="en-US" sz="2400" dirty="0" smtClean="0">
                <a:latin typeface="Arial" pitchFamily="34" charset="0"/>
                <a:cs typeface="Arial" pitchFamily="34" charset="0"/>
              </a:rPr>
              <a:t> - ILS Analysis Test</a:t>
            </a:r>
          </a:p>
          <a:p>
            <a:r>
              <a:rPr lang="en-US" sz="2400" dirty="0" smtClean="0">
                <a:latin typeface="Arial" pitchFamily="34" charset="0"/>
                <a:cs typeface="Arial" pitchFamily="34" charset="0"/>
              </a:rPr>
              <a:t>ILS Test – is used by millions all over the world by trainers </a:t>
            </a:r>
          </a:p>
          <a:p>
            <a:r>
              <a:rPr lang="en-US" sz="2400" dirty="0" smtClean="0">
                <a:latin typeface="Arial" pitchFamily="34" charset="0"/>
                <a:cs typeface="Arial" pitchFamily="34" charset="0"/>
              </a:rPr>
              <a:t>Very effective analysis but is not the boundary</a:t>
            </a:r>
          </a:p>
          <a:p>
            <a:endParaRPr lang="en-US" sz="24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7</a:t>
            </a:fld>
            <a:endParaRPr lang="en-US" dirty="0"/>
          </a:p>
        </p:txBody>
      </p:sp>
      <p:sp>
        <p:nvSpPr>
          <p:cNvPr id="7" name="Title 1"/>
          <p:cNvSpPr txBox="1">
            <a:spLocks/>
          </p:cNvSpPr>
          <p:nvPr/>
        </p:nvSpPr>
        <p:spPr bwMode="auto">
          <a:xfrm>
            <a:off x="152400" y="0"/>
            <a:ext cx="89916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0" cap="none" spc="0" normalizeH="0" baseline="0" noProof="0" smtClean="0">
                <a:ln>
                  <a:noFill/>
                </a:ln>
                <a:solidFill>
                  <a:srgbClr val="C00000"/>
                </a:solidFill>
                <a:effectLst/>
                <a:uLnTx/>
                <a:uFillTx/>
                <a:latin typeface="Arial" pitchFamily="34" charset="0"/>
                <a:ea typeface="+mj-ea"/>
                <a:cs typeface="Arial" pitchFamily="34" charset="0"/>
              </a:rPr>
              <a:t>Know your Learner</a:t>
            </a:r>
            <a:endParaRPr kumimoji="0" lang="en-US" sz="3200" b="1" i="0" u="none" strike="noStrike" kern="0" cap="none" spc="0" normalizeH="0" baseline="0" noProof="0" dirty="0">
              <a:ln>
                <a:noFill/>
              </a:ln>
              <a:solidFill>
                <a:srgbClr val="C00000"/>
              </a:solidFill>
              <a:effectLst/>
              <a:uLnTx/>
              <a:uFillTx/>
              <a:latin typeface="Arial" pitchFamily="34" charset="0"/>
              <a:ea typeface="+mj-ea"/>
              <a:cs typeface="Arial" pitchFamily="34" charset="0"/>
            </a:endParaRPr>
          </a:p>
        </p:txBody>
      </p:sp>
    </p:spTree>
  </p:cSld>
  <p:clrMapOvr>
    <a:masterClrMapping/>
  </p:clrMapOvr>
  <p:transition spd="med">
    <p:cover dir="l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763000" cy="4988246"/>
          </a:xfrm>
        </p:spPr>
        <p:txBody>
          <a:bodyPr/>
          <a:lstStyle/>
          <a:p>
            <a:r>
              <a:rPr lang="en-US" sz="2400" dirty="0" smtClean="0">
                <a:latin typeface="Arial" pitchFamily="34" charset="0"/>
                <a:cs typeface="Arial" pitchFamily="34" charset="0"/>
              </a:rPr>
              <a:t>My test results</a:t>
            </a:r>
          </a:p>
          <a:p>
            <a:endParaRPr lang="en-US" sz="2400" dirty="0">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8</a:t>
            </a:fld>
            <a:endParaRPr lang="en-US" dirty="0"/>
          </a:p>
        </p:txBody>
      </p:sp>
      <p:pic>
        <p:nvPicPr>
          <p:cNvPr id="6" name="Picture 5" descr="ILS-Analysis Results.png"/>
          <p:cNvPicPr>
            <a:picLocks noChangeAspect="1"/>
          </p:cNvPicPr>
          <p:nvPr/>
        </p:nvPicPr>
        <p:blipFill>
          <a:blip r:embed="rId2"/>
          <a:stretch>
            <a:fillRect/>
          </a:stretch>
        </p:blipFill>
        <p:spPr>
          <a:xfrm>
            <a:off x="1143000" y="914400"/>
            <a:ext cx="7112776" cy="4315519"/>
          </a:xfrm>
          <a:prstGeom prst="rect">
            <a:avLst/>
          </a:prstGeom>
        </p:spPr>
      </p:pic>
      <p:pic>
        <p:nvPicPr>
          <p:cNvPr id="7" name="Picture 6" descr="ILS-Analysis Results-Score guidelines.png"/>
          <p:cNvPicPr>
            <a:picLocks noChangeAspect="1"/>
          </p:cNvPicPr>
          <p:nvPr/>
        </p:nvPicPr>
        <p:blipFill>
          <a:blip r:embed="rId3"/>
          <a:stretch>
            <a:fillRect/>
          </a:stretch>
        </p:blipFill>
        <p:spPr>
          <a:xfrm>
            <a:off x="304800" y="5181600"/>
            <a:ext cx="8602698" cy="1114730"/>
          </a:xfrm>
          <a:prstGeom prst="rect">
            <a:avLst/>
          </a:prstGeom>
        </p:spPr>
      </p:pic>
      <p:sp>
        <p:nvSpPr>
          <p:cNvPr id="10" name="Title 1"/>
          <p:cNvSpPr>
            <a:spLocks noGrp="1"/>
          </p:cNvSpPr>
          <p:nvPr>
            <p:ph type="title"/>
          </p:nvPr>
        </p:nvSpPr>
        <p:spPr>
          <a:xfrm>
            <a:off x="152400" y="0"/>
            <a:ext cx="8991600" cy="533400"/>
          </a:xfrm>
        </p:spPr>
        <p:txBody>
          <a:bodyPr/>
          <a:lstStyle/>
          <a:p>
            <a:pPr algn="r"/>
            <a:r>
              <a:rPr lang="en-US" sz="3200" b="1" dirty="0" smtClean="0">
                <a:solidFill>
                  <a:srgbClr val="C00000"/>
                </a:solidFill>
                <a:latin typeface="Arial" pitchFamily="34" charset="0"/>
                <a:cs typeface="Arial" pitchFamily="34" charset="0"/>
              </a:rPr>
              <a:t>Know your Learner</a:t>
            </a:r>
            <a:endParaRPr lang="en-US" sz="3200" b="1" dirty="0">
              <a:solidFill>
                <a:srgbClr val="C00000"/>
              </a:solidFill>
              <a:latin typeface="Arial" pitchFamily="34" charset="0"/>
              <a:cs typeface="Arial" pitchFamily="34" charset="0"/>
            </a:endParaRPr>
          </a:p>
        </p:txBody>
      </p:sp>
    </p:spTree>
  </p:cSld>
  <p:clrMapOvr>
    <a:masterClrMapping/>
  </p:clrMapOvr>
  <p:transition spd="med">
    <p:cover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6D22F896-40B5-4ADD-8801-0D06FADFA095}" type="slidenum">
              <a:rPr lang="en-US" smtClean="0"/>
              <a:pPr/>
              <a:t>9</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Case Study – A school in Tanzania</a:t>
            </a:r>
            <a:endParaRPr lang="en-US" sz="3200" b="1" dirty="0">
              <a:solidFill>
                <a:srgbClr val="C00000"/>
              </a:solidFill>
              <a:latin typeface="Arial" pitchFamily="34" charset="0"/>
              <a:cs typeface="Arial" pitchFamily="34" charset="0"/>
            </a:endParaRPr>
          </a:p>
        </p:txBody>
      </p:sp>
      <p:pic>
        <p:nvPicPr>
          <p:cNvPr id="7" name="Picture 6" descr="Case-Study-School in Tanzania.png"/>
          <p:cNvPicPr>
            <a:picLocks noChangeAspect="1"/>
          </p:cNvPicPr>
          <p:nvPr/>
        </p:nvPicPr>
        <p:blipFill>
          <a:blip r:embed="rId2"/>
          <a:stretch>
            <a:fillRect/>
          </a:stretch>
        </p:blipFill>
        <p:spPr>
          <a:xfrm>
            <a:off x="443775" y="838200"/>
            <a:ext cx="8334277" cy="5105400"/>
          </a:xfrm>
          <a:prstGeom prst="rect">
            <a:avLst/>
          </a:prstGeom>
        </p:spPr>
      </p:pic>
    </p:spTree>
  </p:cSld>
  <p:clrMapOvr>
    <a:masterClrMapping/>
  </p:clrMapOvr>
  <p:transition spd="med">
    <p:strips/>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Learning Models and Pedagogy</a:t>
            </a:r>
            <a:endParaRPr lang="en-US" sz="32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521031" y="657791"/>
            <a:ext cx="8450036" cy="4988246"/>
          </a:xfrm>
        </p:spPr>
        <p:txBody>
          <a:bodyPr/>
          <a:lstStyle/>
          <a:p>
            <a:r>
              <a:rPr lang="en-US" sz="2400" dirty="0" smtClean="0">
                <a:latin typeface="Arial" pitchFamily="34" charset="0"/>
                <a:cs typeface="Arial" pitchFamily="34" charset="0"/>
              </a:rPr>
              <a:t>David Kolb’s Experiential Learning Theory (ELT)</a:t>
            </a:r>
          </a:p>
          <a:p>
            <a:endParaRPr lang="en-US" sz="2400" dirty="0">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10</a:t>
            </a:fld>
            <a:endParaRPr lang="en-US" dirty="0"/>
          </a:p>
        </p:txBody>
      </p:sp>
      <p:pic>
        <p:nvPicPr>
          <p:cNvPr id="8" name="Picture 7" descr="Kolb.png"/>
          <p:cNvPicPr>
            <a:picLocks noChangeAspect="1"/>
          </p:cNvPicPr>
          <p:nvPr/>
        </p:nvPicPr>
        <p:blipFill>
          <a:blip r:embed="rId2"/>
          <a:stretch>
            <a:fillRect/>
          </a:stretch>
        </p:blipFill>
        <p:spPr>
          <a:xfrm>
            <a:off x="7315200" y="1371600"/>
            <a:ext cx="1828801" cy="2181530"/>
          </a:xfrm>
          <a:prstGeom prst="rect">
            <a:avLst/>
          </a:prstGeom>
        </p:spPr>
      </p:pic>
      <p:pic>
        <p:nvPicPr>
          <p:cNvPr id="10" name="Picture 9" descr="Kolbs experiential learning.jpg"/>
          <p:cNvPicPr>
            <a:picLocks noChangeAspect="1"/>
          </p:cNvPicPr>
          <p:nvPr/>
        </p:nvPicPr>
        <p:blipFill>
          <a:blip r:embed="rId3"/>
          <a:stretch>
            <a:fillRect/>
          </a:stretch>
        </p:blipFill>
        <p:spPr>
          <a:xfrm>
            <a:off x="2590800" y="1112911"/>
            <a:ext cx="4038600" cy="5175497"/>
          </a:xfrm>
          <a:prstGeom prst="rect">
            <a:avLst/>
          </a:prstGeom>
        </p:spPr>
      </p:pic>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000" fill="hold"/>
                                        <p:tgtEl>
                                          <p:spTgt spid="10"/>
                                        </p:tgtEl>
                                        <p:attrNameLst>
                                          <p:attrName>ppt_x</p:attrName>
                                        </p:attrNameLst>
                                      </p:cBhvr>
                                      <p:tavLst>
                                        <p:tav tm="0">
                                          <p:val>
                                            <p:strVal val="#ppt_x"/>
                                          </p:val>
                                        </p:tav>
                                        <p:tav tm="100000">
                                          <p:val>
                                            <p:strVal val="#ppt_x"/>
                                          </p:val>
                                        </p:tav>
                                      </p:tavLst>
                                    </p:anim>
                                    <p:anim calcmode="lin" valueType="num">
                                      <p:cBhvr additive="base">
                                        <p:cTn id="8"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2000"/>
                                        <p:tgtEl>
                                          <p:spTgt spid="10"/>
                                        </p:tgtEl>
                                        <p:attrNameLst>
                                          <p:attrName>ppt_x</p:attrName>
                                        </p:attrNameLst>
                                      </p:cBhvr>
                                      <p:tavLst>
                                        <p:tav tm="0">
                                          <p:val>
                                            <p:strVal val="ppt_x"/>
                                          </p:val>
                                        </p:tav>
                                        <p:tav tm="100000">
                                          <p:val>
                                            <p:strVal val="ppt_x"/>
                                          </p:val>
                                        </p:tav>
                                      </p:tavLst>
                                    </p:anim>
                                    <p:anim calcmode="lin" valueType="num">
                                      <p:cBhvr additive="base">
                                        <p:cTn id="13" dur="2000"/>
                                        <p:tgtEl>
                                          <p:spTgt spid="10"/>
                                        </p:tgtEl>
                                        <p:attrNameLst>
                                          <p:attrName>ppt_y</p:attrName>
                                        </p:attrNameLst>
                                      </p:cBhvr>
                                      <p:tavLst>
                                        <p:tav tm="0">
                                          <p:val>
                                            <p:strVal val="ppt_y"/>
                                          </p:val>
                                        </p:tav>
                                        <p:tav tm="100000">
                                          <p:val>
                                            <p:strVal val="1+ppt_h/2"/>
                                          </p:val>
                                        </p:tav>
                                      </p:tavLst>
                                    </p:anim>
                                    <p:set>
                                      <p:cBhvr>
                                        <p:cTn id="14" dur="1" fill="hold">
                                          <p:stCondLst>
                                            <p:cond delay="1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400" dirty="0" smtClean="0">
                <a:latin typeface="Arial" pitchFamily="34" charset="0"/>
                <a:cs typeface="Arial" pitchFamily="34" charset="0"/>
              </a:rPr>
              <a:t>David Kolb’s Experiential Learning Theory (ELT)</a:t>
            </a:r>
          </a:p>
          <a:p>
            <a:endParaRPr lang="en-US" sz="2400" dirty="0">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11</a:t>
            </a:fld>
            <a:endParaRPr lang="en-US" dirty="0"/>
          </a:p>
        </p:txBody>
      </p:sp>
      <p:pic>
        <p:nvPicPr>
          <p:cNvPr id="11" name="Picture 10" descr="learning-kolb.jpg"/>
          <p:cNvPicPr>
            <a:picLocks noChangeAspect="1"/>
          </p:cNvPicPr>
          <p:nvPr/>
        </p:nvPicPr>
        <p:blipFill>
          <a:blip r:embed="rId2"/>
          <a:stretch>
            <a:fillRect/>
          </a:stretch>
        </p:blipFill>
        <p:spPr>
          <a:xfrm>
            <a:off x="2209800" y="1448990"/>
            <a:ext cx="4724400" cy="4826252"/>
          </a:xfrm>
          <a:prstGeom prst="rect">
            <a:avLst/>
          </a:prstGeom>
        </p:spPr>
      </p:pic>
      <p:pic>
        <p:nvPicPr>
          <p:cNvPr id="12" name="Picture 11" descr="Kolb.png"/>
          <p:cNvPicPr>
            <a:picLocks noChangeAspect="1"/>
          </p:cNvPicPr>
          <p:nvPr/>
        </p:nvPicPr>
        <p:blipFill>
          <a:blip r:embed="rId3"/>
          <a:stretch>
            <a:fillRect/>
          </a:stretch>
        </p:blipFill>
        <p:spPr>
          <a:xfrm>
            <a:off x="7315200" y="1371600"/>
            <a:ext cx="1828801" cy="2181530"/>
          </a:xfrm>
          <a:prstGeom prst="rect">
            <a:avLst/>
          </a:prstGeom>
        </p:spPr>
      </p:pic>
      <p:sp>
        <p:nvSpPr>
          <p:cNvPr id="14"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Learning Models and Pedagogy</a:t>
            </a:r>
            <a:endParaRPr lang="en-US" sz="3200" b="1" dirty="0">
              <a:solidFill>
                <a:srgbClr val="C00000"/>
              </a:solidFill>
              <a:latin typeface="Arial" pitchFamily="34" charset="0"/>
              <a:cs typeface="Arial" pitchFamily="34" charset="0"/>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000" fill="hold"/>
                                        <p:tgtEl>
                                          <p:spTgt spid="11"/>
                                        </p:tgtEl>
                                        <p:attrNameLst>
                                          <p:attrName>ppt_x</p:attrName>
                                        </p:attrNameLst>
                                      </p:cBhvr>
                                      <p:tavLst>
                                        <p:tav tm="0">
                                          <p:val>
                                            <p:strVal val="#ppt_x"/>
                                          </p:val>
                                        </p:tav>
                                        <p:tav tm="100000">
                                          <p:val>
                                            <p:strVal val="#ppt_x"/>
                                          </p:val>
                                        </p:tav>
                                      </p:tavLst>
                                    </p:anim>
                                    <p:anim calcmode="lin" valueType="num">
                                      <p:cBhvr additive="base">
                                        <p:cTn id="8" dur="20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nodeType="clickEffect">
                                  <p:stCondLst>
                                    <p:cond delay="0"/>
                                  </p:stCondLst>
                                  <p:childTnLst>
                                    <p:animEffect transition="out" filter="blinds(horizontal)">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400" dirty="0" smtClean="0">
                <a:latin typeface="Arial" pitchFamily="34" charset="0"/>
                <a:cs typeface="Arial" pitchFamily="34" charset="0"/>
              </a:rPr>
              <a:t>David Kolb’s Experiential Learning Theory (ELT)</a:t>
            </a:r>
          </a:p>
          <a:p>
            <a:endParaRPr lang="en-US" sz="2400" dirty="0">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12</a:t>
            </a:fld>
            <a:endParaRPr lang="en-US" dirty="0"/>
          </a:p>
        </p:txBody>
      </p:sp>
      <p:pic>
        <p:nvPicPr>
          <p:cNvPr id="9" name="Picture 8" descr="Kolb_learning_styles.jpg"/>
          <p:cNvPicPr>
            <a:picLocks noChangeAspect="1"/>
          </p:cNvPicPr>
          <p:nvPr/>
        </p:nvPicPr>
        <p:blipFill>
          <a:blip r:embed="rId2"/>
          <a:stretch>
            <a:fillRect/>
          </a:stretch>
        </p:blipFill>
        <p:spPr>
          <a:xfrm>
            <a:off x="2209800" y="1134978"/>
            <a:ext cx="4495800" cy="5195773"/>
          </a:xfrm>
          <a:prstGeom prst="rect">
            <a:avLst/>
          </a:prstGeom>
        </p:spPr>
      </p:pic>
      <p:sp>
        <p:nvSpPr>
          <p:cNvPr id="13"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Learning Models and Pedagogy</a:t>
            </a:r>
            <a:endParaRPr lang="en-US" sz="3200" b="1" dirty="0">
              <a:solidFill>
                <a:srgbClr val="C00000"/>
              </a:solidFill>
              <a:latin typeface="Arial" pitchFamily="34" charset="0"/>
              <a:cs typeface="Arial" pitchFamily="34" charset="0"/>
            </a:endParaRPr>
          </a:p>
        </p:txBody>
      </p:sp>
      <p:pic>
        <p:nvPicPr>
          <p:cNvPr id="14" name="Picture 13" descr="Kolb.png"/>
          <p:cNvPicPr>
            <a:picLocks noChangeAspect="1"/>
          </p:cNvPicPr>
          <p:nvPr/>
        </p:nvPicPr>
        <p:blipFill>
          <a:blip r:embed="rId3"/>
          <a:stretch>
            <a:fillRect/>
          </a:stretch>
        </p:blipFill>
        <p:spPr>
          <a:xfrm>
            <a:off x="7315200" y="1371600"/>
            <a:ext cx="1828801" cy="2181530"/>
          </a:xfrm>
          <a:prstGeom prst="rect">
            <a:avLst/>
          </a:prstGeom>
        </p:spPr>
      </p:pic>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400" dirty="0" smtClean="0">
                <a:latin typeface="Arial" pitchFamily="34" charset="0"/>
                <a:cs typeface="Arial" pitchFamily="34" charset="0"/>
              </a:rPr>
              <a:t>David Kolb’s Experiential Learning Theory (ELT)</a:t>
            </a:r>
          </a:p>
          <a:p>
            <a:pPr lvl="0"/>
            <a:r>
              <a:rPr lang="en-US" sz="2400" dirty="0" smtClean="0">
                <a:latin typeface="Arial" pitchFamily="34" charset="0"/>
                <a:ea typeface="Times New Roman" pitchFamily="18" charset="0"/>
                <a:cs typeface="Arial" pitchFamily="34" charset="0"/>
              </a:rPr>
              <a:t>Teaching activities that support different aspects of the learning cycle</a:t>
            </a:r>
            <a:endParaRPr lang="en-US" sz="2400" dirty="0" smtClean="0">
              <a:latin typeface="Arial" pitchFamily="34" charset="0"/>
              <a:cs typeface="Arial" pitchFamily="34" charset="0"/>
            </a:endParaRPr>
          </a:p>
          <a:p>
            <a:endParaRPr lang="en-US" sz="24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13</a:t>
            </a:fld>
            <a:endParaRPr lang="en-US" dirty="0"/>
          </a:p>
        </p:txBody>
      </p:sp>
      <p:graphicFrame>
        <p:nvGraphicFramePr>
          <p:cNvPr id="12" name="Table 11"/>
          <p:cNvGraphicFramePr>
            <a:graphicFrameLocks noGrp="1"/>
          </p:cNvGraphicFramePr>
          <p:nvPr/>
        </p:nvGraphicFramePr>
        <p:xfrm>
          <a:off x="1066800" y="1981200"/>
          <a:ext cx="7511144" cy="4191000"/>
        </p:xfrm>
        <a:graphic>
          <a:graphicData uri="http://schemas.openxmlformats.org/drawingml/2006/table">
            <a:tbl>
              <a:tblPr/>
              <a:tblGrid>
                <a:gridCol w="1877786"/>
                <a:gridCol w="1877786"/>
                <a:gridCol w="1877786"/>
                <a:gridCol w="1877786"/>
              </a:tblGrid>
              <a:tr h="903140">
                <a:tc>
                  <a:txBody>
                    <a:bodyPr/>
                    <a:lstStyle/>
                    <a:p>
                      <a:pPr marL="0" marR="0">
                        <a:lnSpc>
                          <a:spcPct val="115000"/>
                        </a:lnSpc>
                        <a:spcBef>
                          <a:spcPts val="0"/>
                        </a:spcBef>
                        <a:spcAft>
                          <a:spcPts val="0"/>
                        </a:spcAft>
                      </a:pPr>
                      <a:r>
                        <a:rPr lang="en-US" sz="1400" b="1" dirty="0">
                          <a:solidFill>
                            <a:srgbClr val="FFFFFF"/>
                          </a:solidFill>
                          <a:latin typeface="Arial"/>
                          <a:ea typeface="Times New Roman"/>
                          <a:cs typeface="Times New Roman"/>
                        </a:rPr>
                        <a:t>Concrete experience</a:t>
                      </a:r>
                      <a:br>
                        <a:rPr lang="en-US" sz="1400" b="1" dirty="0">
                          <a:solidFill>
                            <a:srgbClr val="FFFFFF"/>
                          </a:solidFill>
                          <a:latin typeface="Arial"/>
                          <a:ea typeface="Times New Roman"/>
                          <a:cs typeface="Times New Roman"/>
                        </a:rPr>
                      </a:br>
                      <a:r>
                        <a:rPr lang="en-US" sz="1400" b="1" dirty="0">
                          <a:solidFill>
                            <a:srgbClr val="FFFFFF"/>
                          </a:solidFill>
                          <a:latin typeface="Arial"/>
                          <a:ea typeface="Times New Roman"/>
                          <a:cs typeface="Times New Roman"/>
                        </a:rPr>
                        <a:t> </a:t>
                      </a:r>
                      <a:endParaRPr lang="en-US" sz="1400" dirty="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7375"/>
                    </a:solidFill>
                  </a:tcPr>
                </a:tc>
                <a:tc>
                  <a:txBody>
                    <a:bodyPr/>
                    <a:lstStyle/>
                    <a:p>
                      <a:pPr marL="0" marR="0">
                        <a:lnSpc>
                          <a:spcPct val="115000"/>
                        </a:lnSpc>
                        <a:spcBef>
                          <a:spcPts val="0"/>
                        </a:spcBef>
                        <a:spcAft>
                          <a:spcPts val="0"/>
                        </a:spcAft>
                      </a:pPr>
                      <a:r>
                        <a:rPr lang="en-US" sz="1400" b="1" dirty="0">
                          <a:solidFill>
                            <a:srgbClr val="FFFFFF"/>
                          </a:solidFill>
                          <a:latin typeface="Arial"/>
                          <a:ea typeface="Times New Roman"/>
                          <a:cs typeface="Times New Roman"/>
                        </a:rPr>
                        <a:t>Reflective observation</a:t>
                      </a:r>
                      <a:br>
                        <a:rPr lang="en-US" sz="1400" b="1" dirty="0">
                          <a:solidFill>
                            <a:srgbClr val="FFFFFF"/>
                          </a:solidFill>
                          <a:latin typeface="Arial"/>
                          <a:ea typeface="Times New Roman"/>
                          <a:cs typeface="Times New Roman"/>
                        </a:rPr>
                      </a:br>
                      <a:r>
                        <a:rPr lang="en-US" sz="1400" b="1" dirty="0">
                          <a:solidFill>
                            <a:srgbClr val="FFFFFF"/>
                          </a:solidFill>
                          <a:latin typeface="Arial"/>
                          <a:ea typeface="Times New Roman"/>
                          <a:cs typeface="Times New Roman"/>
                        </a:rPr>
                        <a:t> </a:t>
                      </a:r>
                      <a:endParaRPr lang="en-US" sz="1400" dirty="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7375"/>
                    </a:solidFill>
                  </a:tcPr>
                </a:tc>
                <a:tc>
                  <a:txBody>
                    <a:bodyPr/>
                    <a:lstStyle/>
                    <a:p>
                      <a:pPr marL="0" marR="0">
                        <a:lnSpc>
                          <a:spcPct val="115000"/>
                        </a:lnSpc>
                        <a:spcBef>
                          <a:spcPts val="0"/>
                        </a:spcBef>
                        <a:spcAft>
                          <a:spcPts val="0"/>
                        </a:spcAft>
                      </a:pPr>
                      <a:r>
                        <a:rPr lang="en-US" sz="1400" b="1">
                          <a:solidFill>
                            <a:srgbClr val="FFFFFF"/>
                          </a:solidFill>
                          <a:latin typeface="Arial"/>
                          <a:ea typeface="Times New Roman"/>
                          <a:cs typeface="Times New Roman"/>
                        </a:rPr>
                        <a:t>Abstract conceptualization </a:t>
                      </a:r>
                      <a:endParaRPr lang="en-US" sz="140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7375"/>
                    </a:solidFill>
                  </a:tcPr>
                </a:tc>
                <a:tc>
                  <a:txBody>
                    <a:bodyPr/>
                    <a:lstStyle/>
                    <a:p>
                      <a:pPr marL="0" marR="0">
                        <a:lnSpc>
                          <a:spcPct val="115000"/>
                        </a:lnSpc>
                        <a:spcBef>
                          <a:spcPts val="0"/>
                        </a:spcBef>
                        <a:spcAft>
                          <a:spcPts val="0"/>
                        </a:spcAft>
                      </a:pPr>
                      <a:r>
                        <a:rPr lang="en-US" sz="1400" b="1">
                          <a:solidFill>
                            <a:srgbClr val="FFFFFF"/>
                          </a:solidFill>
                          <a:latin typeface="Arial"/>
                          <a:ea typeface="Times New Roman"/>
                          <a:cs typeface="Times New Roman"/>
                        </a:rPr>
                        <a:t>Active experimentation</a:t>
                      </a:r>
                      <a:br>
                        <a:rPr lang="en-US" sz="1400" b="1">
                          <a:solidFill>
                            <a:srgbClr val="FFFFFF"/>
                          </a:solidFill>
                          <a:latin typeface="Arial"/>
                          <a:ea typeface="Times New Roman"/>
                          <a:cs typeface="Times New Roman"/>
                        </a:rPr>
                      </a:br>
                      <a:r>
                        <a:rPr lang="en-US" sz="1400" b="1">
                          <a:solidFill>
                            <a:srgbClr val="FFFFFF"/>
                          </a:solidFill>
                          <a:latin typeface="Arial"/>
                          <a:ea typeface="Times New Roman"/>
                          <a:cs typeface="Times New Roman"/>
                        </a:rPr>
                        <a:t> </a:t>
                      </a:r>
                      <a:endParaRPr lang="en-US" sz="140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7375"/>
                    </a:solidFill>
                  </a:tcPr>
                </a:tc>
              </a:tr>
              <a:tr h="3287860">
                <a:tc>
                  <a:txBody>
                    <a:bodyPr/>
                    <a:lstStyle/>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readings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examples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fieldwork</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laboratories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problem sets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trigger films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observations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simulations/games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text reading</a:t>
                      </a:r>
                      <a:endParaRPr lang="en-US" sz="1400" dirty="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logs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journals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discussion</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brainstorming</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thought questions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rhetorical questions</a:t>
                      </a:r>
                      <a:endParaRPr lang="en-US" sz="1400" dirty="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lecture</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papers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projects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analogies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model building</a:t>
                      </a:r>
                      <a:endParaRPr lang="en-US" sz="1400" dirty="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projects</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fieldwork</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homework</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laboratory</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case study</a:t>
                      </a:r>
                      <a:endParaRPr lang="en-US" sz="1400" dirty="0">
                        <a:latin typeface="Calibri"/>
                        <a:ea typeface="Calibri"/>
                        <a:cs typeface="Times New Roman"/>
                      </a:endParaRPr>
                    </a:p>
                    <a:p>
                      <a:pPr marL="342900" marR="0" lvl="0" indent="-342900">
                        <a:lnSpc>
                          <a:spcPts val="1800"/>
                        </a:lnSpc>
                        <a:spcBef>
                          <a:spcPts val="0"/>
                        </a:spcBef>
                        <a:spcAft>
                          <a:spcPts val="900"/>
                        </a:spcAft>
                        <a:buSzPts val="1000"/>
                        <a:buFont typeface="Symbol"/>
                        <a:buNone/>
                        <a:tabLst>
                          <a:tab pos="457200" algn="l"/>
                        </a:tabLst>
                      </a:pPr>
                      <a:r>
                        <a:rPr lang="en-US" sz="1400" dirty="0">
                          <a:solidFill>
                            <a:srgbClr val="333333"/>
                          </a:solidFill>
                          <a:latin typeface="Arial"/>
                          <a:ea typeface="Times New Roman"/>
                          <a:cs typeface="Times New Roman"/>
                        </a:rPr>
                        <a:t>simulations</a:t>
                      </a:r>
                      <a:endParaRPr lang="en-US" sz="1400" dirty="0">
                        <a:latin typeface="Calibri"/>
                        <a:ea typeface="Calibri"/>
                        <a:cs typeface="Times New Roman"/>
                      </a:endParaRPr>
                    </a:p>
                  </a:txBody>
                  <a:tcPr marL="62865" marR="62865" marT="7620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r>
            </a:tbl>
          </a:graphicData>
        </a:graphic>
      </p:graphicFrame>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Learning Models and Pedagogy</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6489369" cy="4988246"/>
          </a:xfrm>
        </p:spPr>
        <p:txBody>
          <a:bodyPr/>
          <a:lstStyle/>
          <a:p>
            <a:r>
              <a:rPr lang="en-US" sz="2400" dirty="0" smtClean="0"/>
              <a:t>James </a:t>
            </a:r>
            <a:r>
              <a:rPr lang="en-US" sz="2400" dirty="0" err="1" smtClean="0"/>
              <a:t>Kadirire</a:t>
            </a:r>
            <a:r>
              <a:rPr lang="en-US" sz="2400" dirty="0" smtClean="0"/>
              <a:t> (2009), exposes how </a:t>
            </a:r>
            <a:r>
              <a:rPr lang="en-US" sz="2400" dirty="0" err="1" smtClean="0"/>
              <a:t>mLearning</a:t>
            </a:r>
            <a:r>
              <a:rPr lang="en-US" sz="2400" dirty="0" smtClean="0"/>
              <a:t> is related to the </a:t>
            </a:r>
            <a:r>
              <a:rPr lang="en-US" sz="2400" dirty="0" err="1" smtClean="0"/>
              <a:t>conductist</a:t>
            </a:r>
            <a:r>
              <a:rPr lang="en-US" sz="2400" dirty="0" smtClean="0"/>
              <a:t> and constructivist paradigms: </a:t>
            </a:r>
          </a:p>
          <a:p>
            <a:r>
              <a:rPr lang="en-US" sz="2400" dirty="0" err="1" smtClean="0"/>
              <a:t>Conductist</a:t>
            </a:r>
            <a:r>
              <a:rPr lang="en-US" sz="2400" dirty="0" smtClean="0"/>
              <a:t>: delivery of content through the use of text messages or stimuli-response based activities in which a reinforcement message is sent by the system after the student sends his answer. </a:t>
            </a:r>
          </a:p>
          <a:p>
            <a:r>
              <a:rPr lang="en-US" sz="2400" dirty="0" smtClean="0"/>
              <a:t>Constructivist: students become builders of their own knowledge through the active participation and the collaboration through their mobile devices and the communication support tools that they offer. </a:t>
            </a:r>
          </a:p>
          <a:p>
            <a:endParaRPr lang="en-US" sz="24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14</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Learning Models and Pedagogy</a:t>
            </a:r>
            <a:endParaRPr lang="en-US" sz="3200" b="1" dirty="0">
              <a:solidFill>
                <a:srgbClr val="C00000"/>
              </a:solidFill>
              <a:latin typeface="Arial" pitchFamily="34" charset="0"/>
              <a:cs typeface="Arial" pitchFamily="34" charset="0"/>
            </a:endParaRPr>
          </a:p>
        </p:txBody>
      </p:sp>
      <p:pic>
        <p:nvPicPr>
          <p:cNvPr id="6" name="Picture 5" descr="Dr. James Kadirire.jpg"/>
          <p:cNvPicPr>
            <a:picLocks noChangeAspect="1"/>
          </p:cNvPicPr>
          <p:nvPr/>
        </p:nvPicPr>
        <p:blipFill>
          <a:blip r:embed="rId2"/>
          <a:stretch>
            <a:fillRect/>
          </a:stretch>
        </p:blipFill>
        <p:spPr>
          <a:xfrm>
            <a:off x="6934200" y="914400"/>
            <a:ext cx="2209800" cy="2946400"/>
          </a:xfrm>
          <a:prstGeom prst="rect">
            <a:avLst/>
          </a:prstGeom>
        </p:spPr>
      </p:pic>
    </p:spTree>
  </p:cSld>
  <p:clrMapOvr>
    <a:masterClrMapping/>
  </p:clrMapOvr>
  <p:transition spd="med">
    <p:strips/>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pPr>
              <a:buNone/>
            </a:pPr>
            <a:r>
              <a:rPr lang="en-US" b="1" dirty="0" smtClean="0"/>
              <a:t>Statistics</a:t>
            </a:r>
          </a:p>
          <a:p>
            <a:r>
              <a:rPr lang="en-US" dirty="0" smtClean="0"/>
              <a:t>67% - learn on mobile devices</a:t>
            </a:r>
          </a:p>
          <a:p>
            <a:r>
              <a:rPr lang="en-US" dirty="0" smtClean="0"/>
              <a:t>70% - user their own </a:t>
            </a:r>
            <a:r>
              <a:rPr lang="en-US" dirty="0" err="1" smtClean="0"/>
              <a:t>SmartPhone</a:t>
            </a:r>
            <a:r>
              <a:rPr lang="en-US" dirty="0" smtClean="0"/>
              <a:t> </a:t>
            </a:r>
          </a:p>
          <a:p>
            <a:r>
              <a:rPr lang="en-US" dirty="0" smtClean="0"/>
              <a:t>52% - access at the point of need</a:t>
            </a:r>
          </a:p>
          <a:p>
            <a:r>
              <a:rPr lang="en-US" dirty="0" smtClean="0"/>
              <a:t>47% - evenings and weekends</a:t>
            </a:r>
          </a:p>
          <a:p>
            <a:r>
              <a:rPr lang="en-US" dirty="0" smtClean="0"/>
              <a:t>27% - during commuting to work</a:t>
            </a:r>
          </a:p>
          <a:p>
            <a:endParaRPr lang="en-US"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15</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Research - Outcomes</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dirty="0" smtClean="0"/>
              <a:t>Mobile learning is not </a:t>
            </a:r>
            <a:r>
              <a:rPr lang="en-US" dirty="0" err="1" smtClean="0"/>
              <a:t>elearning</a:t>
            </a:r>
            <a:r>
              <a:rPr lang="en-US" dirty="0" smtClean="0"/>
              <a:t>, it is sometimes complementary or supplementary in nature. </a:t>
            </a:r>
          </a:p>
          <a:p>
            <a:r>
              <a:rPr lang="en-US" dirty="0" smtClean="0"/>
              <a:t>One size does not fit all </a:t>
            </a:r>
          </a:p>
          <a:p>
            <a:r>
              <a:rPr lang="en-US" dirty="0" smtClean="0"/>
              <a:t>Global mobility of the workforce</a:t>
            </a:r>
          </a:p>
          <a:p>
            <a:r>
              <a:rPr lang="en-US" dirty="0" err="1" smtClean="0"/>
              <a:t>Millennials</a:t>
            </a:r>
            <a:r>
              <a:rPr lang="en-US" dirty="0" smtClean="0"/>
              <a:t> demand for training and development</a:t>
            </a:r>
          </a:p>
          <a:p>
            <a:r>
              <a:rPr lang="en-US" dirty="0" smtClean="0"/>
              <a:t>Constantly evolving technologies – leading to High-Skill job creation</a:t>
            </a:r>
          </a:p>
          <a:p>
            <a:endParaRPr lang="en-US"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16</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Why Mobile Learning?</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dirty="0" smtClean="0"/>
              <a:t>Remote working and on-the-go working force is increasing</a:t>
            </a:r>
          </a:p>
          <a:p>
            <a:r>
              <a:rPr lang="en-US" dirty="0" smtClean="0"/>
              <a:t>Performance support (employees need support in the moment they need it, not to interrupt workflow). Directly proportional to technology changes</a:t>
            </a:r>
          </a:p>
          <a:p>
            <a:r>
              <a:rPr lang="en-US" dirty="0" smtClean="0"/>
              <a:t>Employee experience – in terms of work-life balance is increasing</a:t>
            </a:r>
          </a:p>
          <a:p>
            <a:r>
              <a:rPr lang="en-US" dirty="0" smtClean="0"/>
              <a:t>Integrated blended approach to learning</a:t>
            </a:r>
          </a:p>
          <a:p>
            <a:endParaRPr lang="en-US" dirty="0" smtClean="0"/>
          </a:p>
          <a:p>
            <a:endParaRPr lang="en-US"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17</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Why Mobile Learning?</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800" dirty="0" smtClean="0"/>
              <a:t>Low cost and high portability</a:t>
            </a:r>
          </a:p>
          <a:p>
            <a:r>
              <a:rPr lang="en-US" sz="2800" dirty="0" smtClean="0"/>
              <a:t>Flexi time</a:t>
            </a:r>
          </a:p>
          <a:p>
            <a:r>
              <a:rPr lang="en-US" sz="2800" dirty="0" smtClean="0"/>
              <a:t>Anytime-Anywhere</a:t>
            </a:r>
          </a:p>
          <a:p>
            <a:r>
              <a:rPr lang="en-US" sz="2800" dirty="0" smtClean="0"/>
              <a:t>Easy accessibility</a:t>
            </a:r>
          </a:p>
          <a:p>
            <a:r>
              <a:rPr lang="en-US" sz="2800" dirty="0" smtClean="0"/>
              <a:t>Micro learning or bite sized learning</a:t>
            </a:r>
          </a:p>
          <a:p>
            <a:r>
              <a:rPr lang="en-US" sz="2800" dirty="0" smtClean="0"/>
              <a:t>Self Paced learning</a:t>
            </a:r>
          </a:p>
          <a:p>
            <a:r>
              <a:rPr lang="en-US" sz="2800" dirty="0" smtClean="0"/>
              <a:t>On-Demand learning</a:t>
            </a:r>
          </a:p>
          <a:p>
            <a:r>
              <a:rPr lang="en-US" sz="2800" dirty="0" smtClean="0"/>
              <a:t>BYOD (Bring Your Own Device)</a:t>
            </a:r>
          </a:p>
        </p:txBody>
      </p:sp>
      <p:sp>
        <p:nvSpPr>
          <p:cNvPr id="5" name="Slide Number Placeholder 4"/>
          <p:cNvSpPr>
            <a:spLocks noGrp="1"/>
          </p:cNvSpPr>
          <p:nvPr>
            <p:ph type="sldNum" sz="quarter" idx="12"/>
          </p:nvPr>
        </p:nvSpPr>
        <p:spPr/>
        <p:txBody>
          <a:bodyPr/>
          <a:lstStyle/>
          <a:p>
            <a:fld id="{6D22F896-40B5-4ADD-8801-0D06FADFA095}" type="slidenum">
              <a:rPr lang="en-US" smtClean="0"/>
              <a:pPr/>
              <a:t>18</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 Highlights</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800" dirty="0" smtClean="0"/>
              <a:t>Just In Time (Learning at work or through work)</a:t>
            </a:r>
          </a:p>
          <a:p>
            <a:r>
              <a:rPr lang="en-US" sz="2800" dirty="0" smtClean="0"/>
              <a:t>Just In Case (Learning for work)</a:t>
            </a:r>
          </a:p>
          <a:p>
            <a:r>
              <a:rPr lang="en-US" sz="2800" dirty="0" smtClean="0"/>
              <a:t>People Tagging (assigning tasks, skills, topics to people)</a:t>
            </a:r>
          </a:p>
          <a:p>
            <a:r>
              <a:rPr lang="en-US" sz="2800" dirty="0" smtClean="0"/>
              <a:t>Cross-contextual learning (reconciliation of work settings and formal education formats)</a:t>
            </a:r>
          </a:p>
          <a:p>
            <a:r>
              <a:rPr lang="en-US" sz="2800" dirty="0" smtClean="0"/>
              <a:t>Mobile-Assisted Language Learning (MALL) [Self-Learning]</a:t>
            </a:r>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19</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 Highlights</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0"/>
            <a:ext cx="8450036" cy="5819209"/>
          </a:xfrm>
        </p:spPr>
        <p:txBody>
          <a:bodyPr/>
          <a:lstStyle/>
          <a:p>
            <a:r>
              <a:rPr lang="en-US" sz="2800" dirty="0" smtClean="0"/>
              <a:t>Flexibility for learners (anytime-anywhere, formats)</a:t>
            </a:r>
          </a:p>
          <a:p>
            <a:r>
              <a:rPr lang="en-US" sz="2800" dirty="0" smtClean="0"/>
              <a:t>Micro learning modules or bite sized modules</a:t>
            </a:r>
          </a:p>
          <a:p>
            <a:r>
              <a:rPr lang="en-US" sz="2800" dirty="0" smtClean="0"/>
              <a:t>Skill based learning (audience analysis) or Learning path</a:t>
            </a:r>
          </a:p>
          <a:p>
            <a:r>
              <a:rPr lang="en-US" sz="2800" dirty="0" smtClean="0"/>
              <a:t>Consider Learner preferences</a:t>
            </a:r>
          </a:p>
          <a:p>
            <a:r>
              <a:rPr lang="en-US" sz="2800" dirty="0" smtClean="0"/>
              <a:t>Attention Span – less is more; Low Information Density (LID)</a:t>
            </a:r>
          </a:p>
          <a:p>
            <a:r>
              <a:rPr lang="en-US" sz="2800" dirty="0" smtClean="0"/>
              <a:t>Age – younger generation like learning through social media</a:t>
            </a:r>
          </a:p>
          <a:p>
            <a:r>
              <a:rPr lang="en-US" sz="2800" dirty="0" smtClean="0"/>
              <a:t>Contextual learning – in-the-moment learning or information gathering (pharmaceutical sales rep, field diagnostics etc.)</a:t>
            </a:r>
          </a:p>
        </p:txBody>
      </p:sp>
      <p:sp>
        <p:nvSpPr>
          <p:cNvPr id="5" name="Slide Number Placeholder 4"/>
          <p:cNvSpPr>
            <a:spLocks noGrp="1"/>
          </p:cNvSpPr>
          <p:nvPr>
            <p:ph type="sldNum" sz="quarter" idx="12"/>
          </p:nvPr>
        </p:nvSpPr>
        <p:spPr/>
        <p:txBody>
          <a:bodyPr/>
          <a:lstStyle/>
          <a:p>
            <a:fld id="{6D22F896-40B5-4ADD-8801-0D06FADFA095}" type="slidenum">
              <a:rPr lang="en-US" smtClean="0"/>
              <a:pPr/>
              <a:t>20</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Strategy</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800" dirty="0" smtClean="0"/>
              <a:t>Higher retention (various methods of streaming information)</a:t>
            </a:r>
          </a:p>
          <a:p>
            <a:r>
              <a:rPr lang="en-US" sz="2800" dirty="0" smtClean="0"/>
              <a:t>Performance Support Tools or PSTs (for learners) – Mobile apps, interactive videos and </a:t>
            </a:r>
            <a:r>
              <a:rPr lang="en-US" sz="2800" dirty="0" err="1" smtClean="0"/>
              <a:t>pdfs</a:t>
            </a:r>
            <a:r>
              <a:rPr lang="en-US" sz="2800" dirty="0" smtClean="0"/>
              <a:t>, short videos, </a:t>
            </a:r>
            <a:r>
              <a:rPr lang="en-US" sz="2800" dirty="0" err="1" smtClean="0"/>
              <a:t>infographics</a:t>
            </a:r>
            <a:r>
              <a:rPr lang="en-US" sz="2800" dirty="0" smtClean="0"/>
              <a:t>, podcasts, animations, whiteboard animations, flash cards, memory nuggets</a:t>
            </a:r>
          </a:p>
          <a:p>
            <a:r>
              <a:rPr lang="en-US" sz="2800" dirty="0" smtClean="0"/>
              <a:t>Situated learning support</a:t>
            </a:r>
          </a:p>
          <a:p>
            <a:r>
              <a:rPr lang="en-US" sz="2800" dirty="0" smtClean="0"/>
              <a:t>Multi-device support</a:t>
            </a:r>
          </a:p>
          <a:p>
            <a:r>
              <a:rPr lang="en-US" sz="2800" dirty="0" smtClean="0"/>
              <a:t>Mobile friendly (Adaptive) approach to Mobile first (Responsive)</a:t>
            </a:r>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21</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Strategy</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800" dirty="0" smtClean="0"/>
              <a:t>Screen Size approach should be bottom up – </a:t>
            </a:r>
            <a:r>
              <a:rPr lang="en-US" sz="2800" dirty="0" err="1" smtClean="0"/>
              <a:t>Smartphones</a:t>
            </a:r>
            <a:r>
              <a:rPr lang="en-US" sz="2800" dirty="0" err="1" smtClean="0">
                <a:sym typeface="Wingdings"/>
              </a:rPr>
              <a:t></a:t>
            </a:r>
            <a:r>
              <a:rPr lang="en-US" sz="2800" dirty="0" err="1" smtClean="0"/>
              <a:t>Tablets</a:t>
            </a:r>
            <a:r>
              <a:rPr lang="en-US" sz="2800" dirty="0" err="1" smtClean="0">
                <a:sym typeface="Wingdings"/>
              </a:rPr>
              <a:t></a:t>
            </a:r>
            <a:r>
              <a:rPr lang="en-US" sz="2800" dirty="0" err="1" smtClean="0"/>
              <a:t>Laptops</a:t>
            </a:r>
            <a:r>
              <a:rPr lang="en-US" sz="2800" dirty="0" smtClean="0"/>
              <a:t>/PCs</a:t>
            </a:r>
          </a:p>
          <a:p>
            <a:r>
              <a:rPr lang="en-US" sz="2800" dirty="0" smtClean="0"/>
              <a:t>Content creation – rule of the thumb – information presented to the size of an index card. </a:t>
            </a:r>
          </a:p>
          <a:p>
            <a:endParaRPr lang="en-US" sz="2800" dirty="0" smtClean="0"/>
          </a:p>
          <a:p>
            <a:endParaRPr lang="en-US" sz="2800" dirty="0" smtClean="0"/>
          </a:p>
          <a:p>
            <a:r>
              <a:rPr lang="en-US" sz="2800" dirty="0" smtClean="0"/>
              <a:t>Intuitive learning methodology (Branching tree method)</a:t>
            </a:r>
          </a:p>
          <a:p>
            <a:r>
              <a:rPr lang="en-US" sz="2800" dirty="0" smtClean="0"/>
              <a:t>Inclusive learning (by receiving constant feedback and contributions from the learners)</a:t>
            </a:r>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22</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Strategy</a:t>
            </a:r>
            <a:endParaRPr lang="en-US" sz="3200" b="1" dirty="0">
              <a:solidFill>
                <a:srgbClr val="C00000"/>
              </a:solidFill>
              <a:latin typeface="Arial" pitchFamily="34" charset="0"/>
              <a:cs typeface="Arial" pitchFamily="34" charset="0"/>
            </a:endParaRPr>
          </a:p>
        </p:txBody>
      </p:sp>
      <p:pic>
        <p:nvPicPr>
          <p:cNvPr id="6" name="Picture 5" descr="Index card.jpg"/>
          <p:cNvPicPr>
            <a:picLocks noChangeAspect="1"/>
          </p:cNvPicPr>
          <p:nvPr/>
        </p:nvPicPr>
        <p:blipFill>
          <a:blip r:embed="rId2"/>
          <a:stretch>
            <a:fillRect/>
          </a:stretch>
        </p:blipFill>
        <p:spPr>
          <a:xfrm>
            <a:off x="6400800" y="2133600"/>
            <a:ext cx="1882977" cy="1447800"/>
          </a:xfrm>
          <a:prstGeom prst="rect">
            <a:avLst/>
          </a:prstGeom>
        </p:spPr>
      </p:pic>
    </p:spTree>
  </p:cSld>
  <p:clrMapOvr>
    <a:masterClrMapping/>
  </p:clrMapOvr>
  <p:transition spd="med">
    <p:strips/>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6D22F896-40B5-4ADD-8801-0D06FADFA095}" type="slidenum">
              <a:rPr lang="en-US" smtClean="0"/>
              <a:pPr/>
              <a:t>23</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Strategy</a:t>
            </a:r>
            <a:endParaRPr lang="en-US" sz="3200" b="1" dirty="0">
              <a:solidFill>
                <a:srgbClr val="C00000"/>
              </a:solidFill>
              <a:latin typeface="Arial" pitchFamily="34" charset="0"/>
              <a:cs typeface="Arial" pitchFamily="34" charset="0"/>
            </a:endParaRPr>
          </a:p>
        </p:txBody>
      </p:sp>
      <p:pic>
        <p:nvPicPr>
          <p:cNvPr id="8" name="Picture 7" descr="The+Project+Methodology+for+Mobile+Learning.jpg"/>
          <p:cNvPicPr>
            <a:picLocks noChangeAspect="1"/>
          </p:cNvPicPr>
          <p:nvPr/>
        </p:nvPicPr>
        <p:blipFill>
          <a:blip r:embed="rId2"/>
          <a:stretch>
            <a:fillRect/>
          </a:stretch>
        </p:blipFill>
        <p:spPr>
          <a:xfrm>
            <a:off x="457200" y="685800"/>
            <a:ext cx="7594600" cy="5695950"/>
          </a:xfrm>
          <a:prstGeom prst="rect">
            <a:avLst/>
          </a:prstGeom>
        </p:spPr>
      </p:pic>
      <p:pic>
        <p:nvPicPr>
          <p:cNvPr id="10" name="Picture 9" descr="PervasiveLearning_all.PNG"/>
          <p:cNvPicPr>
            <a:picLocks noChangeAspect="1"/>
          </p:cNvPicPr>
          <p:nvPr/>
        </p:nvPicPr>
        <p:blipFill>
          <a:blip r:embed="rId3"/>
          <a:stretch>
            <a:fillRect/>
          </a:stretch>
        </p:blipFill>
        <p:spPr>
          <a:xfrm>
            <a:off x="914400" y="685800"/>
            <a:ext cx="6697981" cy="5968497"/>
          </a:xfrm>
          <a:prstGeom prst="rect">
            <a:avLst/>
          </a:prstGeom>
        </p:spPr>
      </p:pic>
    </p:spTree>
  </p:cSld>
  <p:clrMapOvr>
    <a:masterClrMapping/>
  </p:clrMapOvr>
  <p:transition spd="med">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600" decel="100000"/>
                                        <p:tgtEl>
                                          <p:spTgt spid="8"/>
                                        </p:tgtEl>
                                      </p:cBhvr>
                                    </p:animEffect>
                                    <p:anim calcmode="lin" valueType="num">
                                      <p:cBhvr>
                                        <p:cTn id="8" dur="1600" decel="100000" fill="hold"/>
                                        <p:tgtEl>
                                          <p:spTgt spid="8"/>
                                        </p:tgtEl>
                                        <p:attrNameLst>
                                          <p:attrName>style.rotation</p:attrName>
                                        </p:attrNameLst>
                                      </p:cBhvr>
                                      <p:tavLst>
                                        <p:tav tm="0">
                                          <p:val>
                                            <p:fltVal val="-90"/>
                                          </p:val>
                                        </p:tav>
                                        <p:tav tm="100000">
                                          <p:val>
                                            <p:fltVal val="0"/>
                                          </p:val>
                                        </p:tav>
                                      </p:tavLst>
                                    </p:anim>
                                    <p:anim calcmode="lin" valueType="num">
                                      <p:cBhvr>
                                        <p:cTn id="9" dur="1600" decel="100000" fill="hold"/>
                                        <p:tgtEl>
                                          <p:spTgt spid="8"/>
                                        </p:tgtEl>
                                        <p:attrNameLst>
                                          <p:attrName>ppt_x</p:attrName>
                                        </p:attrNameLst>
                                      </p:cBhvr>
                                      <p:tavLst>
                                        <p:tav tm="0">
                                          <p:val>
                                            <p:strVal val="#ppt_x+0.4"/>
                                          </p:val>
                                        </p:tav>
                                        <p:tav tm="100000">
                                          <p:val>
                                            <p:strVal val="#ppt_x-0.05"/>
                                          </p:val>
                                        </p:tav>
                                      </p:tavLst>
                                    </p:anim>
                                    <p:anim calcmode="lin" valueType="num">
                                      <p:cBhvr>
                                        <p:cTn id="10" dur="1600" decel="100000" fill="hold"/>
                                        <p:tgtEl>
                                          <p:spTgt spid="8"/>
                                        </p:tgtEl>
                                        <p:attrNameLst>
                                          <p:attrName>ppt_y</p:attrName>
                                        </p:attrNameLst>
                                      </p:cBhvr>
                                      <p:tavLst>
                                        <p:tav tm="0">
                                          <p:val>
                                            <p:strVal val="#ppt_y-0.4"/>
                                          </p:val>
                                        </p:tav>
                                        <p:tav tm="100000">
                                          <p:val>
                                            <p:strVal val="#ppt_y+0.1"/>
                                          </p:val>
                                        </p:tav>
                                      </p:tavLst>
                                    </p:anim>
                                    <p:anim calcmode="lin" valueType="num">
                                      <p:cBhvr>
                                        <p:cTn id="11" dur="400" accel="100000" fill="hold">
                                          <p:stCondLst>
                                            <p:cond delay="1600"/>
                                          </p:stCondLst>
                                        </p:cTn>
                                        <p:tgtEl>
                                          <p:spTgt spid="8"/>
                                        </p:tgtEl>
                                        <p:attrNameLst>
                                          <p:attrName>ppt_x</p:attrName>
                                        </p:attrNameLst>
                                      </p:cBhvr>
                                      <p:tavLst>
                                        <p:tav tm="0">
                                          <p:val>
                                            <p:strVal val="#ppt_x-0.05"/>
                                          </p:val>
                                        </p:tav>
                                        <p:tav tm="100000">
                                          <p:val>
                                            <p:strVal val="#ppt_x"/>
                                          </p:val>
                                        </p:tav>
                                      </p:tavLst>
                                    </p:anim>
                                    <p:anim calcmode="lin" valueType="num">
                                      <p:cBhvr>
                                        <p:cTn id="12" dur="400" accel="100000" fill="hold">
                                          <p:stCondLst>
                                            <p:cond delay="1600"/>
                                          </p:stCondLst>
                                        </p:cTn>
                                        <p:tgtEl>
                                          <p:spTgt spid="8"/>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2000"/>
                                        <p:tgtEl>
                                          <p:spTgt spid="8"/>
                                        </p:tgtEl>
                                        <p:attrNameLst>
                                          <p:attrName>ppt_x</p:attrName>
                                        </p:attrNameLst>
                                      </p:cBhvr>
                                      <p:tavLst>
                                        <p:tav tm="0">
                                          <p:val>
                                            <p:strVal val="ppt_x"/>
                                          </p:val>
                                        </p:tav>
                                        <p:tav tm="100000">
                                          <p:val>
                                            <p:strVal val="ppt_x"/>
                                          </p:val>
                                        </p:tav>
                                      </p:tavLst>
                                    </p:anim>
                                    <p:anim calcmode="lin" valueType="num">
                                      <p:cBhvr additive="base">
                                        <p:cTn id="17" dur="2000"/>
                                        <p:tgtEl>
                                          <p:spTgt spid="8"/>
                                        </p:tgtEl>
                                        <p:attrNameLst>
                                          <p:attrName>ppt_y</p:attrName>
                                        </p:attrNameLst>
                                      </p:cBhvr>
                                      <p:tavLst>
                                        <p:tav tm="0">
                                          <p:val>
                                            <p:strVal val="ppt_y"/>
                                          </p:val>
                                        </p:tav>
                                        <p:tav tm="100000">
                                          <p:val>
                                            <p:strVal val="1+ppt_h/2"/>
                                          </p:val>
                                        </p:tav>
                                      </p:tavLst>
                                    </p:anim>
                                    <p:set>
                                      <p:cBhvr>
                                        <p:cTn id="18" dur="1" fill="hold">
                                          <p:stCondLst>
                                            <p:cond delay="1999"/>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7"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000" fill="hold"/>
                                        <p:tgtEl>
                                          <p:spTgt spid="10"/>
                                        </p:tgtEl>
                                        <p:attrNameLst>
                                          <p:attrName>ppt_x</p:attrName>
                                        </p:attrNameLst>
                                      </p:cBhvr>
                                      <p:tavLst>
                                        <p:tav tm="0">
                                          <p:val>
                                            <p:strVal val="#ppt_x"/>
                                          </p:val>
                                        </p:tav>
                                        <p:tav tm="100000">
                                          <p:val>
                                            <p:strVal val="#ppt_x"/>
                                          </p:val>
                                        </p:tav>
                                      </p:tavLst>
                                    </p:anim>
                                    <p:anim calcmode="lin" valueType="num">
                                      <p:cBhvr additive="base">
                                        <p:cTn id="24"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800" dirty="0" smtClean="0"/>
              <a:t>Learning is the same, the delivery methods are different. Learners may be rushed but the design should not be; it should be a well thought, planned, and executed seamlessly. </a:t>
            </a:r>
          </a:p>
          <a:p>
            <a:r>
              <a:rPr lang="en-US" sz="2800" dirty="0" smtClean="0"/>
              <a:t>Navigation – must be simple and at the top of the screen</a:t>
            </a:r>
          </a:p>
          <a:p>
            <a:r>
              <a:rPr lang="en-US" sz="2800" dirty="0" smtClean="0"/>
              <a:t>Scrolling – to bare minimum</a:t>
            </a:r>
          </a:p>
          <a:p>
            <a:r>
              <a:rPr lang="en-US" sz="2800" dirty="0" smtClean="0"/>
              <a:t>Orientation – design using the landscape mode</a:t>
            </a:r>
          </a:p>
          <a:p>
            <a:r>
              <a:rPr lang="en-US" sz="2800" dirty="0" smtClean="0"/>
              <a:t>Bite-sized  video clips – 2 </a:t>
            </a:r>
            <a:r>
              <a:rPr lang="en-US" sz="2800" dirty="0" err="1" smtClean="0"/>
              <a:t>mins</a:t>
            </a:r>
            <a:r>
              <a:rPr lang="en-US" sz="2800" dirty="0" smtClean="0"/>
              <a:t> or less </a:t>
            </a:r>
          </a:p>
          <a:p>
            <a:r>
              <a:rPr lang="en-US" sz="2800" dirty="0" smtClean="0"/>
              <a:t>Access times – short and quick</a:t>
            </a:r>
          </a:p>
          <a:p>
            <a:r>
              <a:rPr lang="en-US" sz="2800" dirty="0" smtClean="0"/>
              <a:t>Duration - 10 to 15 minutes learning modules</a:t>
            </a:r>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24</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Designing</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1"/>
            <a:ext cx="8450036" cy="4988246"/>
          </a:xfrm>
        </p:spPr>
        <p:txBody>
          <a:bodyPr/>
          <a:lstStyle/>
          <a:p>
            <a:r>
              <a:rPr lang="en-US" sz="2800" dirty="0" smtClean="0"/>
              <a:t>Size – video and audio download sizes should be less</a:t>
            </a:r>
          </a:p>
          <a:p>
            <a:r>
              <a:rPr lang="en-US" sz="2800" dirty="0" smtClean="0"/>
              <a:t>Assessment – simple flash cards, quizzes, questionnaire (objective type with no more than 3 answers)</a:t>
            </a:r>
          </a:p>
          <a:p>
            <a:r>
              <a:rPr lang="en-US" sz="2800" dirty="0" smtClean="0"/>
              <a:t>Bandwidth – Internet considerations; involve the IT department at the early phase; non-stop fast streaming of content</a:t>
            </a:r>
          </a:p>
          <a:p>
            <a:r>
              <a:rPr lang="en-US" sz="2800" dirty="0" smtClean="0"/>
              <a:t>Processing Power of devices</a:t>
            </a:r>
          </a:p>
          <a:p>
            <a:r>
              <a:rPr lang="en-US" sz="2800" dirty="0" smtClean="0"/>
              <a:t>Don’t force mobile learning on the audience – it should be a natural progression</a:t>
            </a:r>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25</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m-learning Designing</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0"/>
            <a:ext cx="8450036" cy="5971609"/>
          </a:xfrm>
        </p:spPr>
        <p:txBody>
          <a:bodyPr/>
          <a:lstStyle/>
          <a:p>
            <a:r>
              <a:rPr lang="en-US" sz="2800" dirty="0" smtClean="0"/>
              <a:t>Battery Life</a:t>
            </a:r>
          </a:p>
          <a:p>
            <a:r>
              <a:rPr lang="en-US" sz="2800" dirty="0" smtClean="0"/>
              <a:t>Internet connectivity and access</a:t>
            </a:r>
          </a:p>
          <a:p>
            <a:r>
              <a:rPr lang="en-US" sz="2800" dirty="0" smtClean="0"/>
              <a:t>Distractions</a:t>
            </a:r>
          </a:p>
          <a:p>
            <a:r>
              <a:rPr lang="en-US" sz="2800" dirty="0" smtClean="0"/>
              <a:t>Multitasking issues</a:t>
            </a:r>
          </a:p>
          <a:p>
            <a:r>
              <a:rPr lang="en-US" sz="2800" dirty="0" smtClean="0"/>
              <a:t>Multiple devices, multiple operating systems</a:t>
            </a:r>
          </a:p>
          <a:p>
            <a:r>
              <a:rPr lang="en-US" sz="2800" dirty="0" smtClean="0"/>
              <a:t>Cost of devices with advanced technology; limited memory</a:t>
            </a:r>
          </a:p>
          <a:p>
            <a:r>
              <a:rPr lang="en-US" sz="2800" dirty="0" smtClean="0"/>
              <a:t>Obsolete content</a:t>
            </a:r>
          </a:p>
          <a:p>
            <a:r>
              <a:rPr lang="en-US" sz="2800" dirty="0" smtClean="0"/>
              <a:t>Content security, intellectual property rights, copyright issues</a:t>
            </a:r>
          </a:p>
          <a:p>
            <a:r>
              <a:rPr lang="en-US" sz="2800" dirty="0" smtClean="0"/>
              <a:t>Reworking existing e-learning content to mobile platforms</a:t>
            </a:r>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26</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Challenges</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0"/>
            <a:ext cx="8450036" cy="5971609"/>
          </a:xfrm>
        </p:spPr>
        <p:txBody>
          <a:bodyPr/>
          <a:lstStyle/>
          <a:p>
            <a:r>
              <a:rPr lang="en-US" sz="2800" dirty="0" smtClean="0"/>
              <a:t>Two-forked approach</a:t>
            </a:r>
          </a:p>
          <a:p>
            <a:pPr lvl="1"/>
            <a:r>
              <a:rPr lang="en-US" sz="2400" dirty="0" smtClean="0"/>
              <a:t>Systemic and Systematic – first is deeply ingrained in the system, leverage this aspect, second is the procedural steps. </a:t>
            </a:r>
          </a:p>
          <a:p>
            <a:r>
              <a:rPr lang="en-US" sz="2800" dirty="0" smtClean="0"/>
              <a:t>Chunking of Content – modular approach</a:t>
            </a:r>
          </a:p>
          <a:p>
            <a:r>
              <a:rPr lang="en-US" sz="2800" dirty="0" smtClean="0"/>
              <a:t>Organize content – brief, relevant, engaging</a:t>
            </a:r>
          </a:p>
          <a:p>
            <a:r>
              <a:rPr lang="en-US" sz="2800" dirty="0" smtClean="0"/>
              <a:t>KISS principle – Keep It Simple, Stupid</a:t>
            </a:r>
          </a:p>
          <a:p>
            <a:r>
              <a:rPr lang="en-US" sz="2800" dirty="0" smtClean="0"/>
              <a:t>Readability – lower verbose, increase readable content</a:t>
            </a:r>
          </a:p>
          <a:p>
            <a:r>
              <a:rPr lang="en-US" sz="2800" dirty="0" smtClean="0"/>
              <a:t>Break it down – less cognitive load</a:t>
            </a:r>
          </a:p>
          <a:p>
            <a:r>
              <a:rPr lang="en-US" sz="2800" dirty="0" smtClean="0"/>
              <a:t>Searchable content –easy to use TOC, index, and menu</a:t>
            </a:r>
          </a:p>
          <a:p>
            <a:r>
              <a:rPr lang="en-US" sz="2800" dirty="0" smtClean="0"/>
              <a:t>Robust feedback and review mechanism</a:t>
            </a:r>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27</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Content Strategy – receive and retain</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0"/>
            <a:ext cx="8450036" cy="5971609"/>
          </a:xfrm>
        </p:spPr>
        <p:txBody>
          <a:bodyPr/>
          <a:lstStyle/>
          <a:p>
            <a:r>
              <a:rPr lang="en-US" sz="2800" dirty="0" smtClean="0"/>
              <a:t>Visual clarity in material – Large font, short paragraphs with appropriate captions, icons, color, and symbols</a:t>
            </a:r>
          </a:p>
          <a:p>
            <a:r>
              <a:rPr lang="en-US" sz="2800" dirty="0" smtClean="0"/>
              <a:t>Visual learning is important – relevant images and pop up texts to enhance the learning experience</a:t>
            </a:r>
          </a:p>
          <a:p>
            <a:r>
              <a:rPr lang="en-US" sz="2800" dirty="0" smtClean="0"/>
              <a:t>Images should be consistent in delivery and approach (for higher retention, </a:t>
            </a:r>
            <a:r>
              <a:rPr lang="en-US" sz="2800" dirty="0" err="1" smtClean="0"/>
              <a:t>rememberance</a:t>
            </a:r>
            <a:r>
              <a:rPr lang="en-US" sz="2800" dirty="0" smtClean="0"/>
              <a:t> and to avoid confusion). </a:t>
            </a:r>
          </a:p>
          <a:p>
            <a:r>
              <a:rPr lang="en-US" sz="2800" dirty="0" smtClean="0"/>
              <a:t>Training material preparation = Training cycles on the mobile; 15 minutes maximum. The cycle will include to login, search, read, learn, answer, send feedback, and exit. </a:t>
            </a:r>
          </a:p>
          <a:p>
            <a:r>
              <a:rPr lang="en-US" sz="2800" dirty="0" smtClean="0"/>
              <a:t>Room for paced learning by the user</a:t>
            </a:r>
          </a:p>
          <a:p>
            <a:endParaRPr lang="en-US" sz="2800" dirty="0" smtClean="0"/>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28</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Content Strategy – receive and retain</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lstStyle/>
          <a:p>
            <a:pPr algn="r"/>
            <a:r>
              <a:rPr lang="en-US" sz="3200" b="1" dirty="0" smtClean="0">
                <a:solidFill>
                  <a:srgbClr val="C00000"/>
                </a:solidFill>
                <a:latin typeface="Arial" pitchFamily="34" charset="0"/>
                <a:cs typeface="Arial" pitchFamily="34" charset="0"/>
              </a:rPr>
              <a:t>Cognitive Learning – An Imagery example</a:t>
            </a:r>
            <a:endParaRPr lang="en-US" sz="3200" b="1" dirty="0">
              <a:solidFill>
                <a:srgbClr val="C00000"/>
              </a:solidFill>
              <a:latin typeface="Arial" pitchFamily="34" charset="0"/>
              <a:cs typeface="Arial" pitchFamily="34" charset="0"/>
            </a:endParaRPr>
          </a:p>
        </p:txBody>
      </p:sp>
      <p:pic>
        <p:nvPicPr>
          <p:cNvPr id="6" name="Content Placeholder 5" descr="Cognitive learning-imagery example.jpg"/>
          <p:cNvPicPr>
            <a:picLocks noGrp="1" noChangeAspect="1"/>
          </p:cNvPicPr>
          <p:nvPr>
            <p:ph idx="1"/>
          </p:nvPr>
        </p:nvPicPr>
        <p:blipFill>
          <a:blip r:embed="rId2"/>
          <a:stretch>
            <a:fillRect/>
          </a:stretch>
        </p:blipFill>
        <p:spPr>
          <a:xfrm>
            <a:off x="1828800" y="685800"/>
            <a:ext cx="5562600" cy="5652451"/>
          </a:xfrm>
        </p:spPr>
      </p:pic>
      <p:sp>
        <p:nvSpPr>
          <p:cNvPr id="5" name="Slide Number Placeholder 4"/>
          <p:cNvSpPr>
            <a:spLocks noGrp="1"/>
          </p:cNvSpPr>
          <p:nvPr>
            <p:ph type="sldNum" sz="quarter" idx="12"/>
          </p:nvPr>
        </p:nvSpPr>
        <p:spPr/>
        <p:txBody>
          <a:bodyPr/>
          <a:lstStyle/>
          <a:p>
            <a:fld id="{6D22F896-40B5-4ADD-8801-0D06FADFA095}" type="slidenum">
              <a:rPr lang="en-US" smtClean="0"/>
              <a:pPr/>
              <a:t>29</a:t>
            </a:fld>
            <a:endParaRPr lang="en-US" dirty="0"/>
          </a:p>
        </p:txBody>
      </p:sp>
    </p:spTree>
  </p:cSld>
  <p:clrMapOvr>
    <a:masterClrMapping/>
  </p:clrMapOvr>
  <p:transition spd="med">
    <p:zoom dir="in"/>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031" y="657790"/>
            <a:ext cx="8450036" cy="5971609"/>
          </a:xfrm>
        </p:spPr>
        <p:txBody>
          <a:bodyPr/>
          <a:lstStyle/>
          <a:p>
            <a:pPr>
              <a:buNone/>
            </a:pPr>
            <a:r>
              <a:rPr lang="en-US" sz="2800" b="1" dirty="0" smtClean="0"/>
              <a:t>Mobile Apps</a:t>
            </a:r>
          </a:p>
          <a:p>
            <a:r>
              <a:rPr lang="en-US" sz="2800" dirty="0" smtClean="0"/>
              <a:t>5 moments of Need model (by Dr. Conrad </a:t>
            </a:r>
            <a:r>
              <a:rPr lang="en-US" sz="2800" dirty="0" err="1" smtClean="0"/>
              <a:t>Gottfredson</a:t>
            </a:r>
            <a:r>
              <a:rPr lang="en-US" sz="2800" dirty="0" smtClean="0"/>
              <a:t>) can be used to find when learners seek learning support. </a:t>
            </a:r>
          </a:p>
          <a:p>
            <a:r>
              <a:rPr lang="en-US" sz="2800" dirty="0" smtClean="0"/>
              <a:t>NMASC (New, More, Apply, Solve, Change) </a:t>
            </a:r>
          </a:p>
          <a:p>
            <a:endParaRPr lang="en-US" sz="2800" dirty="0" smtClean="0"/>
          </a:p>
          <a:p>
            <a:endParaRPr lang="en-US" sz="2800" dirty="0">
              <a:solidFill>
                <a:schemeClr val="tx1"/>
              </a:solidFill>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30</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Performance Support Tools (PSTs)</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6D22F896-40B5-4ADD-8801-0D06FADFA095}" type="slidenum">
              <a:rPr lang="en-US" smtClean="0"/>
              <a:pPr/>
              <a:t>31</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5 Moments of Need and 70:20:10 concept</a:t>
            </a:r>
            <a:endParaRPr lang="en-US" sz="3200" b="1" dirty="0">
              <a:solidFill>
                <a:srgbClr val="C00000"/>
              </a:solidFill>
              <a:latin typeface="Arial" pitchFamily="34" charset="0"/>
              <a:cs typeface="Arial" pitchFamily="34" charset="0"/>
            </a:endParaRPr>
          </a:p>
        </p:txBody>
      </p:sp>
      <p:pic>
        <p:nvPicPr>
          <p:cNvPr id="7" name="Content Placeholder 6" descr="Five Moments of Need.jpg"/>
          <p:cNvPicPr>
            <a:picLocks noGrp="1" noChangeAspect="1"/>
          </p:cNvPicPr>
          <p:nvPr>
            <p:ph idx="1"/>
          </p:nvPr>
        </p:nvPicPr>
        <p:blipFill>
          <a:blip r:embed="rId2"/>
          <a:stretch>
            <a:fillRect/>
          </a:stretch>
        </p:blipFill>
        <p:spPr>
          <a:xfrm>
            <a:off x="838200" y="1295400"/>
            <a:ext cx="7797466" cy="3848100"/>
          </a:xfrm>
        </p:spPr>
      </p:pic>
      <p:pic>
        <p:nvPicPr>
          <p:cNvPr id="8" name="Picture 7" descr="Five moments of need.png"/>
          <p:cNvPicPr>
            <a:picLocks noChangeAspect="1"/>
          </p:cNvPicPr>
          <p:nvPr/>
        </p:nvPicPr>
        <p:blipFill>
          <a:blip r:embed="rId3"/>
          <a:stretch>
            <a:fillRect/>
          </a:stretch>
        </p:blipFill>
        <p:spPr>
          <a:xfrm>
            <a:off x="304800" y="2209800"/>
            <a:ext cx="8350350" cy="2962275"/>
          </a:xfrm>
          <a:prstGeom prst="rect">
            <a:avLst/>
          </a:prstGeom>
        </p:spPr>
      </p:pic>
      <p:pic>
        <p:nvPicPr>
          <p:cNvPr id="10" name="Picture 9" descr="5-moments-of-need-Model.png"/>
          <p:cNvPicPr>
            <a:picLocks noChangeAspect="1"/>
          </p:cNvPicPr>
          <p:nvPr/>
        </p:nvPicPr>
        <p:blipFill>
          <a:blip r:embed="rId4"/>
          <a:stretch>
            <a:fillRect/>
          </a:stretch>
        </p:blipFill>
        <p:spPr>
          <a:xfrm>
            <a:off x="1524000" y="914400"/>
            <a:ext cx="6155192" cy="5239607"/>
          </a:xfrm>
          <a:prstGeom prst="rect">
            <a:avLst/>
          </a:prstGeom>
        </p:spPr>
      </p:pic>
      <p:pic>
        <p:nvPicPr>
          <p:cNvPr id="11" name="Picture 10" descr="70-20-10-Learning-Model.jpg"/>
          <p:cNvPicPr>
            <a:picLocks noChangeAspect="1"/>
          </p:cNvPicPr>
          <p:nvPr/>
        </p:nvPicPr>
        <p:blipFill>
          <a:blip r:embed="rId5"/>
          <a:stretch>
            <a:fillRect/>
          </a:stretch>
        </p:blipFill>
        <p:spPr>
          <a:xfrm>
            <a:off x="2286000" y="1371600"/>
            <a:ext cx="4648200" cy="4648200"/>
          </a:xfrm>
          <a:prstGeom prst="rect">
            <a:avLst/>
          </a:prstGeom>
        </p:spPr>
      </p:pic>
      <p:pic>
        <p:nvPicPr>
          <p:cNvPr id="12" name="Picture 11" descr="5 Need and 70-20-10 model.png"/>
          <p:cNvPicPr>
            <a:picLocks noChangeAspect="1"/>
          </p:cNvPicPr>
          <p:nvPr/>
        </p:nvPicPr>
        <p:blipFill>
          <a:blip r:embed="rId6"/>
          <a:stretch>
            <a:fillRect/>
          </a:stretch>
        </p:blipFill>
        <p:spPr>
          <a:xfrm>
            <a:off x="533400" y="1066800"/>
            <a:ext cx="7648610" cy="4609562"/>
          </a:xfrm>
          <a:prstGeom prst="rect">
            <a:avLst/>
          </a:prstGeom>
        </p:spPr>
      </p:pic>
      <p:pic>
        <p:nvPicPr>
          <p:cNvPr id="13" name="Picture 12" descr="70-20-10 Methodology-Experiential component.jpg"/>
          <p:cNvPicPr>
            <a:picLocks noChangeAspect="1"/>
          </p:cNvPicPr>
          <p:nvPr/>
        </p:nvPicPr>
        <p:blipFill>
          <a:blip r:embed="rId7"/>
          <a:stretch>
            <a:fillRect/>
          </a:stretch>
        </p:blipFill>
        <p:spPr>
          <a:xfrm>
            <a:off x="914400" y="1600200"/>
            <a:ext cx="7696200" cy="4040505"/>
          </a:xfrm>
          <a:prstGeom prst="rect">
            <a:avLst/>
          </a:prstGeom>
        </p:spPr>
      </p:pic>
    </p:spTree>
  </p:cSld>
  <p:clrMapOvr>
    <a:masterClrMapping/>
  </p:clrMapOvr>
  <p:transition spd="med">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600" decel="100000"/>
                                        <p:tgtEl>
                                          <p:spTgt spid="7"/>
                                        </p:tgtEl>
                                      </p:cBhvr>
                                    </p:animEffect>
                                    <p:anim calcmode="lin" valueType="num">
                                      <p:cBhvr>
                                        <p:cTn id="8" dur="1600" decel="100000" fill="hold"/>
                                        <p:tgtEl>
                                          <p:spTgt spid="7"/>
                                        </p:tgtEl>
                                        <p:attrNameLst>
                                          <p:attrName>style.rotation</p:attrName>
                                        </p:attrNameLst>
                                      </p:cBhvr>
                                      <p:tavLst>
                                        <p:tav tm="0">
                                          <p:val>
                                            <p:fltVal val="-90"/>
                                          </p:val>
                                        </p:tav>
                                        <p:tav tm="100000">
                                          <p:val>
                                            <p:fltVal val="0"/>
                                          </p:val>
                                        </p:tav>
                                      </p:tavLst>
                                    </p:anim>
                                    <p:anim calcmode="lin" valueType="num">
                                      <p:cBhvr>
                                        <p:cTn id="9" dur="1600" decel="100000" fill="hold"/>
                                        <p:tgtEl>
                                          <p:spTgt spid="7"/>
                                        </p:tgtEl>
                                        <p:attrNameLst>
                                          <p:attrName>ppt_x</p:attrName>
                                        </p:attrNameLst>
                                      </p:cBhvr>
                                      <p:tavLst>
                                        <p:tav tm="0">
                                          <p:val>
                                            <p:strVal val="#ppt_x+0.4"/>
                                          </p:val>
                                        </p:tav>
                                        <p:tav tm="100000">
                                          <p:val>
                                            <p:strVal val="#ppt_x-0.05"/>
                                          </p:val>
                                        </p:tav>
                                      </p:tavLst>
                                    </p:anim>
                                    <p:anim calcmode="lin" valueType="num">
                                      <p:cBhvr>
                                        <p:cTn id="10" dur="1600" decel="100000" fill="hold"/>
                                        <p:tgtEl>
                                          <p:spTgt spid="7"/>
                                        </p:tgtEl>
                                        <p:attrNameLst>
                                          <p:attrName>ppt_y</p:attrName>
                                        </p:attrNameLst>
                                      </p:cBhvr>
                                      <p:tavLst>
                                        <p:tav tm="0">
                                          <p:val>
                                            <p:strVal val="#ppt_y-0.4"/>
                                          </p:val>
                                        </p:tav>
                                        <p:tav tm="100000">
                                          <p:val>
                                            <p:strVal val="#ppt_y+0.1"/>
                                          </p:val>
                                        </p:tav>
                                      </p:tavLst>
                                    </p:anim>
                                    <p:anim calcmode="lin" valueType="num">
                                      <p:cBhvr>
                                        <p:cTn id="11" dur="400" accel="100000" fill="hold">
                                          <p:stCondLst>
                                            <p:cond delay="1600"/>
                                          </p:stCondLst>
                                        </p:cTn>
                                        <p:tgtEl>
                                          <p:spTgt spid="7"/>
                                        </p:tgtEl>
                                        <p:attrNameLst>
                                          <p:attrName>ppt_x</p:attrName>
                                        </p:attrNameLst>
                                      </p:cBhvr>
                                      <p:tavLst>
                                        <p:tav tm="0">
                                          <p:val>
                                            <p:strVal val="#ppt_x-0.05"/>
                                          </p:val>
                                        </p:tav>
                                        <p:tav tm="100000">
                                          <p:val>
                                            <p:strVal val="#ppt_x"/>
                                          </p:val>
                                        </p:tav>
                                      </p:tavLst>
                                    </p:anim>
                                    <p:anim calcmode="lin" valueType="num">
                                      <p:cBhvr>
                                        <p:cTn id="12" dur="400" accel="100000" fill="hold">
                                          <p:stCondLst>
                                            <p:cond delay="16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7"/>
                                        </p:tgtEl>
                                        <p:attrNameLst>
                                          <p:attrName>ppt_x</p:attrName>
                                        </p:attrNameLst>
                                      </p:cBhvr>
                                      <p:tavLst>
                                        <p:tav tm="0">
                                          <p:val>
                                            <p:strVal val="ppt_x"/>
                                          </p:val>
                                        </p:tav>
                                        <p:tav tm="100000">
                                          <p:val>
                                            <p:strVal val="ppt_x"/>
                                          </p:val>
                                        </p:tav>
                                      </p:tavLst>
                                    </p:anim>
                                    <p:anim calcmode="lin" valueType="num">
                                      <p:cBhvr additive="base">
                                        <p:cTn id="17" dur="500"/>
                                        <p:tgtEl>
                                          <p:spTgt spid="7"/>
                                        </p:tgtEl>
                                        <p:attrNameLst>
                                          <p:attrName>ppt_y</p:attrName>
                                        </p:attrNameLst>
                                      </p:cBhvr>
                                      <p:tavLst>
                                        <p:tav tm="0">
                                          <p:val>
                                            <p:strVal val="ppt_y"/>
                                          </p:val>
                                        </p:tav>
                                        <p:tav tm="100000">
                                          <p:val>
                                            <p:strVal val="1+ppt_h/2"/>
                                          </p:val>
                                        </p:tav>
                                      </p:tavLst>
                                    </p:anim>
                                    <p:set>
                                      <p:cBhvr>
                                        <p:cTn id="18" dur="1" fill="hold">
                                          <p:stCondLst>
                                            <p:cond delay="499"/>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nodeType="clickEffect">
                                  <p:stCondLst>
                                    <p:cond delay="0"/>
                                  </p:stCondLst>
                                  <p:childTnLst>
                                    <p:animEffect transition="out" filter="blinds(horizontal)">
                                      <p:cBhvr>
                                        <p:cTn id="28" dur="500"/>
                                        <p:tgtEl>
                                          <p:spTgt spid="8"/>
                                        </p:tgtEl>
                                      </p:cBhvr>
                                    </p:animEffect>
                                    <p:set>
                                      <p:cBhvr>
                                        <p:cTn id="29" dur="1" fill="hold">
                                          <p:stCondLst>
                                            <p:cond delay="499"/>
                                          </p:stCondLst>
                                        </p:cTn>
                                        <p:tgtEl>
                                          <p:spTgt spid="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30"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800" decel="100000"/>
                                        <p:tgtEl>
                                          <p:spTgt spid="10"/>
                                        </p:tgtEl>
                                      </p:cBhvr>
                                    </p:animEffect>
                                    <p:anim calcmode="lin" valueType="num">
                                      <p:cBhvr>
                                        <p:cTn id="35" dur="800" decel="100000" fill="hold"/>
                                        <p:tgtEl>
                                          <p:spTgt spid="10"/>
                                        </p:tgtEl>
                                        <p:attrNameLst>
                                          <p:attrName>style.rotation</p:attrName>
                                        </p:attrNameLst>
                                      </p:cBhvr>
                                      <p:tavLst>
                                        <p:tav tm="0">
                                          <p:val>
                                            <p:fltVal val="-90"/>
                                          </p:val>
                                        </p:tav>
                                        <p:tav tm="100000">
                                          <p:val>
                                            <p:fltVal val="0"/>
                                          </p:val>
                                        </p:tav>
                                      </p:tavLst>
                                    </p:anim>
                                    <p:anim calcmode="lin" valueType="num">
                                      <p:cBhvr>
                                        <p:cTn id="36" dur="800" decel="100000" fill="hold"/>
                                        <p:tgtEl>
                                          <p:spTgt spid="10"/>
                                        </p:tgtEl>
                                        <p:attrNameLst>
                                          <p:attrName>ppt_x</p:attrName>
                                        </p:attrNameLst>
                                      </p:cBhvr>
                                      <p:tavLst>
                                        <p:tav tm="0">
                                          <p:val>
                                            <p:strVal val="#ppt_x+0.4"/>
                                          </p:val>
                                        </p:tav>
                                        <p:tav tm="100000">
                                          <p:val>
                                            <p:strVal val="#ppt_x-0.05"/>
                                          </p:val>
                                        </p:tav>
                                      </p:tavLst>
                                    </p:anim>
                                    <p:anim calcmode="lin" valueType="num">
                                      <p:cBhvr>
                                        <p:cTn id="37" dur="800" decel="100000" fill="hold"/>
                                        <p:tgtEl>
                                          <p:spTgt spid="10"/>
                                        </p:tgtEl>
                                        <p:attrNameLst>
                                          <p:attrName>ppt_y</p:attrName>
                                        </p:attrNameLst>
                                      </p:cBhvr>
                                      <p:tavLst>
                                        <p:tav tm="0">
                                          <p:val>
                                            <p:strVal val="#ppt_y-0.4"/>
                                          </p:val>
                                        </p:tav>
                                        <p:tav tm="100000">
                                          <p:val>
                                            <p:strVal val="#ppt_y+0.1"/>
                                          </p:val>
                                        </p:tav>
                                      </p:tavLst>
                                    </p:anim>
                                    <p:anim calcmode="lin" valueType="num">
                                      <p:cBhvr>
                                        <p:cTn id="38" dur="200" accel="100000" fill="hold">
                                          <p:stCondLst>
                                            <p:cond delay="800"/>
                                          </p:stCondLst>
                                        </p:cTn>
                                        <p:tgtEl>
                                          <p:spTgt spid="10"/>
                                        </p:tgtEl>
                                        <p:attrNameLst>
                                          <p:attrName>ppt_x</p:attrName>
                                        </p:attrNameLst>
                                      </p:cBhvr>
                                      <p:tavLst>
                                        <p:tav tm="0">
                                          <p:val>
                                            <p:strVal val="#ppt_x-0.05"/>
                                          </p:val>
                                        </p:tav>
                                        <p:tav tm="100000">
                                          <p:val>
                                            <p:strVal val="#ppt_x"/>
                                          </p:val>
                                        </p:tav>
                                      </p:tavLst>
                                    </p:anim>
                                    <p:anim calcmode="lin" valueType="num">
                                      <p:cBhvr>
                                        <p:cTn id="39" dur="200" accel="100000" fill="hold">
                                          <p:stCondLst>
                                            <p:cond delay="800"/>
                                          </p:stCondLst>
                                        </p:cTn>
                                        <p:tgtEl>
                                          <p:spTgt spid="10"/>
                                        </p:tgtEl>
                                        <p:attrNameLst>
                                          <p:attrName>ppt_y</p:attrName>
                                        </p:attrNameLst>
                                      </p:cBhvr>
                                      <p:tavLst>
                                        <p:tav tm="0">
                                          <p:val>
                                            <p:strVal val="#ppt_y+0.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1" presetClass="exit" presetSubtype="4" fill="hold" nodeType="clickEffect">
                                  <p:stCondLst>
                                    <p:cond delay="0"/>
                                  </p:stCondLst>
                                  <p:childTnLst>
                                    <p:animEffect transition="out" filter="wheel(4)">
                                      <p:cBhvr>
                                        <p:cTn id="43" dur="2000"/>
                                        <p:tgtEl>
                                          <p:spTgt spid="10"/>
                                        </p:tgtEl>
                                      </p:cBhvr>
                                    </p:animEffect>
                                    <p:set>
                                      <p:cBhvr>
                                        <p:cTn id="44" dur="1" fill="hold">
                                          <p:stCondLst>
                                            <p:cond delay="1999"/>
                                          </p:stCondLst>
                                        </p:cTn>
                                        <p:tgtEl>
                                          <p:spTgt spid="1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7" presetClass="entr" presetSubtype="4"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2000" fill="hold"/>
                                        <p:tgtEl>
                                          <p:spTgt spid="11"/>
                                        </p:tgtEl>
                                        <p:attrNameLst>
                                          <p:attrName>ppt_x</p:attrName>
                                        </p:attrNameLst>
                                      </p:cBhvr>
                                      <p:tavLst>
                                        <p:tav tm="0">
                                          <p:val>
                                            <p:strVal val="#ppt_x"/>
                                          </p:val>
                                        </p:tav>
                                        <p:tav tm="100000">
                                          <p:val>
                                            <p:strVal val="#ppt_x"/>
                                          </p:val>
                                        </p:tav>
                                      </p:tavLst>
                                    </p:anim>
                                    <p:anim calcmode="lin" valueType="num">
                                      <p:cBhvr additive="base">
                                        <p:cTn id="50" dur="20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nodeType="clickEffect">
                                  <p:stCondLst>
                                    <p:cond delay="0"/>
                                  </p:stCondLst>
                                  <p:childTnLst>
                                    <p:anim calcmode="lin" valueType="num">
                                      <p:cBhvr additive="base">
                                        <p:cTn id="54" dur="2000"/>
                                        <p:tgtEl>
                                          <p:spTgt spid="11"/>
                                        </p:tgtEl>
                                        <p:attrNameLst>
                                          <p:attrName>ppt_x</p:attrName>
                                        </p:attrNameLst>
                                      </p:cBhvr>
                                      <p:tavLst>
                                        <p:tav tm="0">
                                          <p:val>
                                            <p:strVal val="ppt_x"/>
                                          </p:val>
                                        </p:tav>
                                        <p:tav tm="100000">
                                          <p:val>
                                            <p:strVal val="ppt_x"/>
                                          </p:val>
                                        </p:tav>
                                      </p:tavLst>
                                    </p:anim>
                                    <p:anim calcmode="lin" valueType="num">
                                      <p:cBhvr additive="base">
                                        <p:cTn id="55" dur="2000"/>
                                        <p:tgtEl>
                                          <p:spTgt spid="11"/>
                                        </p:tgtEl>
                                        <p:attrNameLst>
                                          <p:attrName>ppt_y</p:attrName>
                                        </p:attrNameLst>
                                      </p:cBhvr>
                                      <p:tavLst>
                                        <p:tav tm="0">
                                          <p:val>
                                            <p:strVal val="ppt_y"/>
                                          </p:val>
                                        </p:tav>
                                        <p:tav tm="100000">
                                          <p:val>
                                            <p:strVal val="1+ppt_h/2"/>
                                          </p:val>
                                        </p:tav>
                                      </p:tavLst>
                                    </p:anim>
                                    <p:set>
                                      <p:cBhvr>
                                        <p:cTn id="56" dur="1" fill="hold">
                                          <p:stCondLst>
                                            <p:cond delay="1999"/>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2000" fill="hold"/>
                                        <p:tgtEl>
                                          <p:spTgt spid="12"/>
                                        </p:tgtEl>
                                        <p:attrNameLst>
                                          <p:attrName>ppt_x</p:attrName>
                                        </p:attrNameLst>
                                      </p:cBhvr>
                                      <p:tavLst>
                                        <p:tav tm="0">
                                          <p:val>
                                            <p:strVal val="#ppt_x"/>
                                          </p:val>
                                        </p:tav>
                                        <p:tav tm="100000">
                                          <p:val>
                                            <p:strVal val="#ppt_x"/>
                                          </p:val>
                                        </p:tav>
                                      </p:tavLst>
                                    </p:anim>
                                    <p:anim calcmode="lin" valueType="num">
                                      <p:cBhvr additive="base">
                                        <p:cTn id="62" dur="20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nodeType="clickEffect">
                                  <p:stCondLst>
                                    <p:cond delay="0"/>
                                  </p:stCondLst>
                                  <p:childTnLst>
                                    <p:anim calcmode="lin" valueType="num">
                                      <p:cBhvr additive="base">
                                        <p:cTn id="66" dur="2000"/>
                                        <p:tgtEl>
                                          <p:spTgt spid="12"/>
                                        </p:tgtEl>
                                        <p:attrNameLst>
                                          <p:attrName>ppt_x</p:attrName>
                                        </p:attrNameLst>
                                      </p:cBhvr>
                                      <p:tavLst>
                                        <p:tav tm="0">
                                          <p:val>
                                            <p:strVal val="ppt_x"/>
                                          </p:val>
                                        </p:tav>
                                        <p:tav tm="100000">
                                          <p:val>
                                            <p:strVal val="ppt_x"/>
                                          </p:val>
                                        </p:tav>
                                      </p:tavLst>
                                    </p:anim>
                                    <p:anim calcmode="lin" valueType="num">
                                      <p:cBhvr additive="base">
                                        <p:cTn id="67" dur="2000"/>
                                        <p:tgtEl>
                                          <p:spTgt spid="12"/>
                                        </p:tgtEl>
                                        <p:attrNameLst>
                                          <p:attrName>ppt_y</p:attrName>
                                        </p:attrNameLst>
                                      </p:cBhvr>
                                      <p:tavLst>
                                        <p:tav tm="0">
                                          <p:val>
                                            <p:strVal val="ppt_y"/>
                                          </p:val>
                                        </p:tav>
                                        <p:tav tm="100000">
                                          <p:val>
                                            <p:strVal val="1+ppt_h/2"/>
                                          </p:val>
                                        </p:tav>
                                      </p:tavLst>
                                    </p:anim>
                                    <p:set>
                                      <p:cBhvr>
                                        <p:cTn id="68" dur="1" fill="hold">
                                          <p:stCondLst>
                                            <p:cond delay="1999"/>
                                          </p:stCondLst>
                                        </p:cTn>
                                        <p:tgtEl>
                                          <p:spTgt spid="12"/>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5" presetClass="entr" presetSubtype="10" fill="hold" nodeType="click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checkerboard(across)">
                                      <p:cBhvr>
                                        <p:cTn id="73"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450036" cy="4066609"/>
          </a:xfrm>
        </p:spPr>
        <p:txBody>
          <a:bodyPr/>
          <a:lstStyle/>
          <a:p>
            <a:pPr algn="just"/>
            <a:r>
              <a:rPr lang="en-US" dirty="0" smtClean="0">
                <a:latin typeface="+mj-lt"/>
              </a:rPr>
              <a:t>m-learning uses Augmented Reality extensively in education and corporate training. </a:t>
            </a:r>
          </a:p>
          <a:p>
            <a:pPr algn="just"/>
            <a:r>
              <a:rPr lang="en-US" dirty="0" smtClean="0">
                <a:latin typeface="+mj-lt"/>
              </a:rPr>
              <a:t>Definition : AR superimposes virtual elements over the image of real elements through the combination of the screen and camera of the devices, thus permitting the interaction between these elements and the students. </a:t>
            </a:r>
          </a:p>
          <a:p>
            <a:endParaRPr lang="en-US" dirty="0" smtClean="0">
              <a:solidFill>
                <a:schemeClr val="tx1"/>
              </a:solidFill>
              <a:latin typeface="+mj-lt"/>
              <a:cs typeface="Arial" pitchFamily="34" charset="0"/>
            </a:endParaRPr>
          </a:p>
          <a:p>
            <a:pPr>
              <a:buNone/>
            </a:pPr>
            <a:endParaRPr lang="en-US" dirty="0">
              <a:solidFill>
                <a:schemeClr val="tx1"/>
              </a:solidFill>
              <a:latin typeface="+mj-lt"/>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32</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Augmented Reality and m-learning</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450036" cy="5257800"/>
          </a:xfrm>
        </p:spPr>
        <p:txBody>
          <a:bodyPr/>
          <a:lstStyle/>
          <a:p>
            <a:pPr lvl="0"/>
            <a:r>
              <a:rPr lang="en-IN" dirty="0" smtClean="0">
                <a:latin typeface="+mj-lt"/>
              </a:rPr>
              <a:t>ARIS (</a:t>
            </a:r>
            <a:r>
              <a:rPr lang="en-IN" dirty="0" smtClean="0">
                <a:latin typeface="+mj-lt"/>
                <a:hlinkClick r:id="rId2"/>
              </a:rPr>
              <a:t>http://arisgames.org</a:t>
            </a:r>
            <a:r>
              <a:rPr lang="en-IN" dirty="0" smtClean="0">
                <a:latin typeface="+mj-lt"/>
              </a:rPr>
              <a:t>)</a:t>
            </a:r>
            <a:endParaRPr lang="en-US" dirty="0" smtClean="0">
              <a:latin typeface="+mj-lt"/>
            </a:endParaRPr>
          </a:p>
          <a:p>
            <a:pPr lvl="0"/>
            <a:r>
              <a:rPr lang="en-IN" dirty="0" err="1" smtClean="0">
                <a:latin typeface="+mj-lt"/>
              </a:rPr>
              <a:t>Aurasma</a:t>
            </a:r>
            <a:r>
              <a:rPr lang="en-IN" dirty="0" smtClean="0">
                <a:latin typeface="+mj-lt"/>
              </a:rPr>
              <a:t> </a:t>
            </a:r>
            <a:r>
              <a:rPr lang="en-IN" dirty="0" smtClean="0">
                <a:latin typeface="+mj-lt"/>
              </a:rPr>
              <a:t>(</a:t>
            </a:r>
            <a:r>
              <a:rPr lang="en-IN" dirty="0" smtClean="0">
                <a:latin typeface="+mj-lt"/>
                <a:hlinkClick r:id="rId3"/>
              </a:rPr>
              <a:t>http://aurasma.com</a:t>
            </a:r>
            <a:r>
              <a:rPr lang="en-IN" dirty="0" smtClean="0">
                <a:latin typeface="+mj-lt"/>
              </a:rPr>
              <a:t>)</a:t>
            </a:r>
            <a:endParaRPr lang="en-US" dirty="0" smtClean="0">
              <a:latin typeface="+mj-lt"/>
            </a:endParaRPr>
          </a:p>
          <a:p>
            <a:pPr lvl="0"/>
            <a:r>
              <a:rPr lang="en-IN" dirty="0" err="1" smtClean="0">
                <a:latin typeface="+mj-lt"/>
              </a:rPr>
              <a:t>Junaio</a:t>
            </a:r>
            <a:r>
              <a:rPr lang="en-IN" dirty="0" smtClean="0">
                <a:latin typeface="+mj-lt"/>
              </a:rPr>
              <a:t> (</a:t>
            </a:r>
            <a:r>
              <a:rPr lang="en-IN" dirty="0" smtClean="0">
                <a:latin typeface="+mj-lt"/>
                <a:hlinkClick r:id="rId4"/>
              </a:rPr>
              <a:t>http://junaio.com</a:t>
            </a:r>
            <a:r>
              <a:rPr lang="en-IN" dirty="0" smtClean="0">
                <a:latin typeface="+mj-lt"/>
              </a:rPr>
              <a:t>)</a:t>
            </a:r>
            <a:endParaRPr lang="en-US" dirty="0" smtClean="0">
              <a:latin typeface="+mj-lt"/>
            </a:endParaRPr>
          </a:p>
          <a:p>
            <a:pPr lvl="0"/>
            <a:r>
              <a:rPr lang="en-IN" dirty="0" err="1" smtClean="0">
                <a:latin typeface="+mj-lt"/>
              </a:rPr>
              <a:t>Layar</a:t>
            </a:r>
            <a:r>
              <a:rPr lang="en-IN" dirty="0" smtClean="0">
                <a:latin typeface="+mj-lt"/>
              </a:rPr>
              <a:t> (</a:t>
            </a:r>
            <a:r>
              <a:rPr lang="en-IN" dirty="0" smtClean="0">
                <a:latin typeface="+mj-lt"/>
                <a:hlinkClick r:id="rId5"/>
              </a:rPr>
              <a:t>http://layar.com</a:t>
            </a:r>
            <a:r>
              <a:rPr lang="en-IN" dirty="0" smtClean="0">
                <a:latin typeface="+mj-lt"/>
              </a:rPr>
              <a:t>)</a:t>
            </a:r>
            <a:endParaRPr lang="en-US" dirty="0" smtClean="0">
              <a:latin typeface="+mj-lt"/>
            </a:endParaRPr>
          </a:p>
          <a:p>
            <a:pPr lvl="0"/>
            <a:r>
              <a:rPr lang="en-IN" dirty="0" err="1" smtClean="0">
                <a:latin typeface="+mj-lt"/>
              </a:rPr>
              <a:t>Metaio</a:t>
            </a:r>
            <a:r>
              <a:rPr lang="en-IN" dirty="0" smtClean="0">
                <a:latin typeface="+mj-lt"/>
              </a:rPr>
              <a:t> (</a:t>
            </a:r>
            <a:r>
              <a:rPr lang="en-IN" dirty="0" smtClean="0">
                <a:latin typeface="+mj-lt"/>
                <a:hlinkClick r:id="rId6"/>
              </a:rPr>
              <a:t>http://metaio.com</a:t>
            </a:r>
            <a:r>
              <a:rPr lang="en-IN" dirty="0" smtClean="0">
                <a:latin typeface="+mj-lt"/>
              </a:rPr>
              <a:t>)</a:t>
            </a:r>
            <a:endParaRPr lang="en-US" dirty="0" smtClean="0">
              <a:latin typeface="+mj-lt"/>
            </a:endParaRPr>
          </a:p>
          <a:p>
            <a:pPr lvl="0"/>
            <a:r>
              <a:rPr lang="en-IN" dirty="0" err="1" smtClean="0">
                <a:latin typeface="+mj-lt"/>
              </a:rPr>
              <a:t>Vuforia</a:t>
            </a:r>
            <a:r>
              <a:rPr lang="en-IN" dirty="0" smtClean="0">
                <a:latin typeface="+mj-lt"/>
              </a:rPr>
              <a:t> (</a:t>
            </a:r>
            <a:r>
              <a:rPr lang="en-IN" dirty="0" smtClean="0">
                <a:latin typeface="+mj-lt"/>
                <a:hlinkClick r:id="rId7"/>
              </a:rPr>
              <a:t>http://vuforia.com</a:t>
            </a:r>
            <a:r>
              <a:rPr lang="en-IN" dirty="0" smtClean="0">
                <a:latin typeface="+mj-lt"/>
              </a:rPr>
              <a:t>)</a:t>
            </a:r>
            <a:endParaRPr lang="en-US" dirty="0" smtClean="0">
              <a:latin typeface="+mj-lt"/>
            </a:endParaRPr>
          </a:p>
          <a:p>
            <a:pPr lvl="0"/>
            <a:r>
              <a:rPr lang="en-IN" dirty="0" err="1" smtClean="0">
                <a:latin typeface="+mj-lt"/>
              </a:rPr>
              <a:t>Wikitude</a:t>
            </a:r>
            <a:r>
              <a:rPr lang="en-IN" dirty="0" smtClean="0">
                <a:latin typeface="+mj-lt"/>
              </a:rPr>
              <a:t> (</a:t>
            </a:r>
            <a:r>
              <a:rPr lang="en-IN" dirty="0" smtClean="0">
                <a:latin typeface="+mj-lt"/>
                <a:hlinkClick r:id="rId8"/>
              </a:rPr>
              <a:t>http://wikitude.com</a:t>
            </a:r>
            <a:r>
              <a:rPr lang="en-IN" dirty="0" smtClean="0">
                <a:latin typeface="+mj-lt"/>
              </a:rPr>
              <a:t>) – Code free Augmented reality editor. </a:t>
            </a:r>
            <a:endParaRPr lang="en-US" dirty="0" smtClean="0">
              <a:latin typeface="+mj-lt"/>
            </a:endParaRPr>
          </a:p>
          <a:p>
            <a:endParaRPr lang="en-US" dirty="0" smtClean="0">
              <a:solidFill>
                <a:schemeClr val="tx1"/>
              </a:solidFill>
              <a:latin typeface="+mj-lt"/>
              <a:cs typeface="Arial" pitchFamily="34" charset="0"/>
            </a:endParaRPr>
          </a:p>
          <a:p>
            <a:pPr>
              <a:buNone/>
            </a:pPr>
            <a:endParaRPr lang="en-US" dirty="0">
              <a:solidFill>
                <a:schemeClr val="tx1"/>
              </a:solidFill>
              <a:latin typeface="+mj-lt"/>
              <a:cs typeface="Arial" pitchFamily="34"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33</a:t>
            </a:fld>
            <a:endParaRPr lang="en-US" dirty="0"/>
          </a:p>
        </p:txBody>
      </p:sp>
      <p:sp>
        <p:nvSpPr>
          <p:cNvPr id="9" name="Title 1"/>
          <p:cNvSpPr>
            <a:spLocks noGrp="1"/>
          </p:cNvSpPr>
          <p:nvPr>
            <p:ph type="title"/>
          </p:nvPr>
        </p:nvSpPr>
        <p:spPr>
          <a:xfrm>
            <a:off x="0" y="0"/>
            <a:ext cx="9144000" cy="609600"/>
          </a:xfrm>
        </p:spPr>
        <p:txBody>
          <a:bodyPr/>
          <a:lstStyle/>
          <a:p>
            <a:pPr algn="r"/>
            <a:r>
              <a:rPr lang="en-US" sz="3200" b="1" dirty="0" smtClean="0">
                <a:solidFill>
                  <a:srgbClr val="C00000"/>
                </a:solidFill>
                <a:latin typeface="Arial" pitchFamily="34" charset="0"/>
                <a:cs typeface="Arial" pitchFamily="34" charset="0"/>
              </a:rPr>
              <a:t>Augmented Reality and m-learning</a:t>
            </a:r>
            <a:endParaRPr lang="en-US" sz="3200" b="1" dirty="0">
              <a:solidFill>
                <a:srgbClr val="C00000"/>
              </a:solidFill>
              <a:latin typeface="Arial" pitchFamily="34" charset="0"/>
              <a:cs typeface="Arial" pitchFamily="34" charset="0"/>
            </a:endParaRPr>
          </a:p>
        </p:txBody>
      </p:sp>
    </p:spTree>
  </p:cSld>
  <p:clrMapOvr>
    <a:masterClrMapping/>
  </p:clrMapOvr>
  <p:transition spd="med">
    <p:strips/>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Q &amp; A-1.png"/>
          <p:cNvPicPr>
            <a:picLocks noChangeAspect="1"/>
          </p:cNvPicPr>
          <p:nvPr/>
        </p:nvPicPr>
        <p:blipFill>
          <a:blip r:embed="rId2" cstate="print"/>
          <a:stretch>
            <a:fillRect/>
          </a:stretch>
        </p:blipFill>
        <p:spPr>
          <a:xfrm>
            <a:off x="5257800" y="1976717"/>
            <a:ext cx="3733800" cy="3953436"/>
          </a:xfrm>
          <a:prstGeom prst="rect">
            <a:avLst/>
          </a:prstGeom>
        </p:spPr>
      </p:pic>
      <p:sp>
        <p:nvSpPr>
          <p:cNvPr id="10" name="Slide Number Placeholder 5"/>
          <p:cNvSpPr txBox="1">
            <a:spLocks/>
          </p:cNvSpPr>
          <p:nvPr/>
        </p:nvSpPr>
        <p:spPr bwMode="auto">
          <a:xfrm>
            <a:off x="67056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1CAC958-15F6-4A58-B68C-AD9DDD81B584}" type="slidenum">
              <a:rPr kumimoji="0" lang="en-US" sz="1400" b="0" i="0" u="none" strike="noStrike" kern="1200" cap="none" spc="0" normalizeH="0" baseline="0" noProof="0" smtClean="0">
                <a:ln>
                  <a:noFill/>
                </a:ln>
                <a:solidFill>
                  <a:schemeClr val="tx1"/>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400" b="0" i="0" u="none" strike="noStrike" kern="1200" cap="none" spc="0" normalizeH="0" baseline="0" noProof="0" dirty="0" smtClean="0">
              <a:ln>
                <a:noFill/>
              </a:ln>
              <a:solidFill>
                <a:schemeClr val="tx1"/>
              </a:solidFill>
              <a:effectLst/>
              <a:uLnTx/>
              <a:uFillTx/>
              <a:latin typeface="Times New Roman" pitchFamily="18" charset="0"/>
              <a:ea typeface="+mn-ea"/>
              <a:cs typeface="+mn-cs"/>
            </a:endParaRPr>
          </a:p>
        </p:txBody>
      </p:sp>
      <p:pic>
        <p:nvPicPr>
          <p:cNvPr id="2" name="Picture 1"/>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6200" y="67210"/>
            <a:ext cx="3802039" cy="3819013"/>
          </a:xfrm>
          <a:prstGeom prst="rect">
            <a:avLst/>
          </a:prstGeom>
        </p:spPr>
      </p:pic>
      <p:sp>
        <p:nvSpPr>
          <p:cNvPr id="3" name="TextBox 2"/>
          <p:cNvSpPr txBox="1"/>
          <p:nvPr/>
        </p:nvSpPr>
        <p:spPr>
          <a:xfrm>
            <a:off x="533400" y="4526924"/>
            <a:ext cx="4038600" cy="892552"/>
          </a:xfrm>
          <a:prstGeom prst="rect">
            <a:avLst/>
          </a:prstGeom>
          <a:noFill/>
        </p:spPr>
        <p:txBody>
          <a:bodyPr wrap="square" rtlCol="0">
            <a:spAutoFit/>
          </a:bodyPr>
          <a:lstStyle/>
          <a:p>
            <a:endParaRPr lang="en-IN" dirty="0" smtClean="0"/>
          </a:p>
          <a:p>
            <a:r>
              <a:rPr lang="en-IN" sz="2800" dirty="0" smtClean="0"/>
              <a:t>pkiranmayee@yahoo.com</a:t>
            </a:r>
            <a:endParaRPr lang="en-IN" sz="2800" dirty="0"/>
          </a:p>
        </p:txBody>
      </p:sp>
    </p:spTree>
    <p:extLst>
      <p:ext uri="{BB962C8B-B14F-4D97-AF65-F5344CB8AC3E}">
        <p14:creationId xmlns:p14="http://schemas.microsoft.com/office/powerpoint/2010/main" xmlns="" val="2109333715"/>
      </p:ext>
    </p:extLst>
  </p:cSld>
  <p:clrMapOvr>
    <a:masterClrMapping/>
  </p:clrMapOvr>
  <p:transition spd="med">
    <p:wheel spokes="8"/>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Grp="1" noChangeArrowheads="1"/>
          </p:cNvSpPr>
          <p:nvPr>
            <p:ph type="ctrTitle"/>
          </p:nvPr>
        </p:nvSpPr>
        <p:spPr>
          <a:xfrm>
            <a:off x="533400" y="0"/>
            <a:ext cx="8382000" cy="838200"/>
          </a:xfrm>
        </p:spPr>
        <p:txBody>
          <a:bodyPr/>
          <a:lstStyle/>
          <a:p>
            <a:pPr algn="r" eaLnBrk="1" hangingPunct="1"/>
            <a:endParaRPr lang="en-US" sz="3600" smtClean="0"/>
          </a:p>
        </p:txBody>
      </p:sp>
      <p:sp>
        <p:nvSpPr>
          <p:cNvPr id="2" name="Rectangle 3"/>
          <p:cNvSpPr>
            <a:spLocks noGrp="1" noChangeArrowheads="1"/>
          </p:cNvSpPr>
          <p:nvPr>
            <p:ph type="subTitle" idx="1"/>
          </p:nvPr>
        </p:nvSpPr>
        <p:spPr>
          <a:xfrm>
            <a:off x="533400" y="838200"/>
            <a:ext cx="8305800" cy="5181600"/>
          </a:xfrm>
          <a:effectLst>
            <a:outerShdw dist="35921" dir="2700000" algn="ctr" rotWithShape="0">
              <a:schemeClr val="bg2"/>
            </a:outerShdw>
          </a:effectLst>
        </p:spPr>
        <p:txBody>
          <a:bodyPr/>
          <a:lstStyle/>
          <a:p>
            <a:pPr marL="609600" indent="-609600" algn="l" eaLnBrk="1" hangingPunct="1">
              <a:lnSpc>
                <a:spcPct val="80000"/>
              </a:lnSpc>
              <a:buFontTx/>
              <a:buChar char="•"/>
              <a:defRPr/>
            </a:pPr>
            <a:endParaRPr lang="en-US" sz="2400" dirty="0" smtClean="0"/>
          </a:p>
          <a:p>
            <a:pPr marL="609600" indent="-609600" algn="l" eaLnBrk="1" hangingPunct="1">
              <a:lnSpc>
                <a:spcPct val="80000"/>
              </a:lnSpc>
              <a:buFontTx/>
              <a:buChar char="•"/>
              <a:defRPr/>
            </a:pPr>
            <a:endParaRPr lang="en-US" sz="2400" dirty="0" smtClean="0"/>
          </a:p>
          <a:p>
            <a:pPr marL="609600" indent="-609600" algn="l" eaLnBrk="1" hangingPunct="1">
              <a:lnSpc>
                <a:spcPct val="80000"/>
              </a:lnSpc>
              <a:buFontTx/>
              <a:buChar char="•"/>
              <a:defRPr/>
            </a:pPr>
            <a:endParaRPr lang="en-US" sz="2400" dirty="0" smtClean="0"/>
          </a:p>
          <a:p>
            <a:pPr marL="609600" indent="-609600" algn="l" eaLnBrk="1" hangingPunct="1">
              <a:lnSpc>
                <a:spcPct val="80000"/>
              </a:lnSpc>
              <a:buFontTx/>
              <a:buChar char="•"/>
              <a:defRPr/>
            </a:pPr>
            <a:endParaRPr lang="en-US" sz="2400" dirty="0" smtClean="0"/>
          </a:p>
          <a:p>
            <a:pPr marL="609600" indent="-609600" algn="l" eaLnBrk="1" hangingPunct="1">
              <a:lnSpc>
                <a:spcPct val="80000"/>
              </a:lnSpc>
              <a:buFontTx/>
              <a:buChar char="•"/>
              <a:defRPr/>
            </a:pPr>
            <a:endParaRPr lang="en-US" sz="2400" dirty="0" smtClean="0"/>
          </a:p>
          <a:p>
            <a:pPr marL="609600" indent="-609600" algn="l" eaLnBrk="1" hangingPunct="1">
              <a:lnSpc>
                <a:spcPct val="80000"/>
              </a:lnSpc>
              <a:buFontTx/>
              <a:buChar char="•"/>
              <a:defRPr/>
            </a:pPr>
            <a:endParaRPr lang="en-US" sz="2400" dirty="0" smtClean="0"/>
          </a:p>
          <a:p>
            <a:pPr marL="609600" indent="-609600" eaLnBrk="1" hangingPunct="1">
              <a:lnSpc>
                <a:spcPct val="80000"/>
              </a:lnSpc>
              <a:defRPr/>
            </a:pPr>
            <a:r>
              <a:rPr lang="en-US" sz="4400" b="1" dirty="0" smtClean="0">
                <a:solidFill>
                  <a:srgbClr val="9900CC"/>
                </a:solidFill>
              </a:rPr>
              <a:t>Thank You</a:t>
            </a:r>
          </a:p>
        </p:txBody>
      </p:sp>
      <p:sp>
        <p:nvSpPr>
          <p:cNvPr id="7" name="Slide Number Placeholder 5"/>
          <p:cNvSpPr txBox="1">
            <a:spLocks/>
          </p:cNvSpPr>
          <p:nvPr/>
        </p:nvSpPr>
        <p:spPr bwMode="auto">
          <a:xfrm>
            <a:off x="67056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1CAC958-15F6-4A58-B68C-AD9DDD81B584}" type="slidenum">
              <a:rPr kumimoji="0" lang="en-US" sz="1400" b="0" i="0" u="none" strike="noStrike" kern="1200" cap="none" spc="0" normalizeH="0" baseline="0" noProof="0" smtClean="0">
                <a:ln>
                  <a:noFill/>
                </a:ln>
                <a:solidFill>
                  <a:schemeClr val="tx1"/>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400" b="0" i="0" u="none" strike="noStrike" kern="1200" cap="none" spc="0" normalizeH="0" baseline="0" noProof="0" dirty="0" smtClean="0">
              <a:ln>
                <a:noFill/>
              </a:ln>
              <a:solidFill>
                <a:schemeClr val="tx1"/>
              </a:solidFill>
              <a:effectLst/>
              <a:uLnTx/>
              <a:uFillTx/>
              <a:latin typeface="Times New Roman" pitchFamily="18" charset="0"/>
              <a:ea typeface="+mn-ea"/>
              <a:cs typeface="+mn-cs"/>
            </a:endParaRPr>
          </a:p>
        </p:txBody>
      </p:sp>
    </p:spTree>
  </p:cSld>
  <p:clrMapOvr>
    <a:masterClrMapping/>
  </p:clrMapOvr>
  <p:transition spd="med">
    <p:newsflash/>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3058</TotalTime>
  <Words>1658</Words>
  <Application>Microsoft Office PowerPoint</Application>
  <PresentationFormat>On-screen Show (4:3)</PresentationFormat>
  <Paragraphs>261</Paragraphs>
  <Slides>35</Slides>
  <Notes>0</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35</vt:i4>
      </vt:variant>
    </vt:vector>
  </HeadingPairs>
  <TitlesOfParts>
    <vt:vector size="38" baseType="lpstr">
      <vt:lpstr>Default Design</vt:lpstr>
      <vt:lpstr>Custom Design</vt:lpstr>
      <vt:lpstr>Photo Editor Photo</vt:lpstr>
      <vt:lpstr>Converting Legacy Content e-learning to m-learning</vt:lpstr>
      <vt:lpstr>Agenda</vt:lpstr>
      <vt:lpstr>Abstract</vt:lpstr>
      <vt:lpstr>Slide 4</vt:lpstr>
      <vt:lpstr>Research Phases</vt:lpstr>
      <vt:lpstr>Know your Learner</vt:lpstr>
      <vt:lpstr>Slide 7</vt:lpstr>
      <vt:lpstr>Know your Learner</vt:lpstr>
      <vt:lpstr>Case Study – A school in Tanzania</vt:lpstr>
      <vt:lpstr>Learning Models and Pedagogy</vt:lpstr>
      <vt:lpstr>Learning Models and Pedagogy</vt:lpstr>
      <vt:lpstr>Learning Models and Pedagogy</vt:lpstr>
      <vt:lpstr>Learning Models and Pedagogy</vt:lpstr>
      <vt:lpstr>Learning Models and Pedagogy</vt:lpstr>
      <vt:lpstr>Research - Outcomes</vt:lpstr>
      <vt:lpstr>Why Mobile Learning?</vt:lpstr>
      <vt:lpstr>Why Mobile Learning?</vt:lpstr>
      <vt:lpstr>m-learning - Highlights</vt:lpstr>
      <vt:lpstr>m-learning - Highlights</vt:lpstr>
      <vt:lpstr>m-learning Strategy</vt:lpstr>
      <vt:lpstr>m-learning Strategy</vt:lpstr>
      <vt:lpstr>m-learning Strategy</vt:lpstr>
      <vt:lpstr>m-learning Strategy</vt:lpstr>
      <vt:lpstr>m-learning Designing</vt:lpstr>
      <vt:lpstr>m-learning Designing</vt:lpstr>
      <vt:lpstr>Challenges</vt:lpstr>
      <vt:lpstr>Content Strategy – receive and retain</vt:lpstr>
      <vt:lpstr>Content Strategy – receive and retain</vt:lpstr>
      <vt:lpstr>Cognitive Learning – An Imagery example</vt:lpstr>
      <vt:lpstr>Performance Support Tools (PSTs)</vt:lpstr>
      <vt:lpstr>5 Moments of Need and 70:20:10 concept</vt:lpstr>
      <vt:lpstr>Augmented Reality and m-learning</vt:lpstr>
      <vt:lpstr>Augmented Reality and m-learning</vt:lpstr>
      <vt:lpstr>Slide 34</vt:lpstr>
      <vt:lpstr>Slide 35</vt:lpstr>
    </vt:vector>
  </TitlesOfParts>
  <Company>P III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Coverage</dc:title>
  <dc:creator>P.N.RAO</dc:creator>
  <cp:lastModifiedBy>admin</cp:lastModifiedBy>
  <cp:revision>323</cp:revision>
  <dcterms:created xsi:type="dcterms:W3CDTF">2004-09-30T19:00:21Z</dcterms:created>
  <dcterms:modified xsi:type="dcterms:W3CDTF">2018-12-14T08:39:30Z</dcterms:modified>
</cp:coreProperties>
</file>